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  <p:sldId id="284" r:id="rId28"/>
    <p:sldId id="285" r:id="rId2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Roboto Light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hKmoQbSLTZNAjdc7DX/Tydc83Q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93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55582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8164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4976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1599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3453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0224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8565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8413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0042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3009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2176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3877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64711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09490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0860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2650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5367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40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34941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48229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58233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79578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26315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10932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9243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31068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5159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546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9" name="Google Shape;269;p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9968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3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3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4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aletton.com/#uid=1000u0kllllaFw0g0qFqFg0w0a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Espacio_de_colo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tmlcolorcodes.com/es/nombres-de-los-colores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olors/default.as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TAGs/ref_colornames.asp" TargetMode="External"/><Relationship Id="rId5" Type="http://schemas.openxmlformats.org/officeDocument/2006/relationships/hyperlink" Target="https://www.calculadoraconversor.com/conversores/modelos-de-color/" TargetMode="External"/><Relationship Id="rId4" Type="http://schemas.openxmlformats.org/officeDocument/2006/relationships/hyperlink" Target="http://www.workwithcolor.com/color-converter-01.htm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326350" y="7885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ES" sz="6000" b="1" i="0" u="none" strike="noStrike" cap="none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s-ES" sz="6000" b="1" i="0" u="none" strike="noStrike" cap="none">
                <a:solidFill>
                  <a:srgbClr val="76A5AF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s-ES" sz="6000" b="1" i="0" u="none" strike="noStrike" cap="none">
                <a:solidFill>
                  <a:srgbClr val="93C47D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s-ES" sz="6000" b="1" i="0" u="none" strike="noStrike" cap="none">
                <a:solidFill>
                  <a:srgbClr val="FFD966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s-ES" sz="6000" b="1" i="0" u="none" strike="noStrike" cap="none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endParaRPr sz="6000" b="1" i="0" u="none" strike="noStrike" cap="none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26350" y="40650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UNCPBA/ FCE</a:t>
            </a:r>
            <a:endParaRPr sz="1800" b="1" i="0" u="none" strike="noStrike" cap="none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rPr>
              <a:t>INTERFACES DE USUARIO E INTERACCIÓN | TUDAI </a:t>
            </a:r>
            <a:endParaRPr sz="1400" b="0" i="0" u="none" strike="noStrike" cap="none">
              <a:solidFill>
                <a:srgbClr val="CCCCCC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CCCCC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CCCCC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>
            <a:spLocks noGrp="1"/>
          </p:cNvSpPr>
          <p:nvPr>
            <p:ph type="title"/>
          </p:nvPr>
        </p:nvSpPr>
        <p:spPr>
          <a:xfrm>
            <a:off x="311750" y="1109525"/>
            <a:ext cx="8520600" cy="9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 sz="5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¿Qué es el color?</a:t>
            </a:r>
            <a:endParaRPr sz="5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0" y="2128675"/>
            <a:ext cx="9144000" cy="6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ES" sz="2500" b="0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 color es luz.</a:t>
            </a:r>
            <a:endParaRPr sz="2500" b="0" i="1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1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150" y="2743075"/>
            <a:ext cx="91440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0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Ondas electromagnéticas viajando en el espacio.</a:t>
            </a:r>
            <a:endParaRPr sz="1800" b="0" i="1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1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b="0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“La percepción de los colores es un fenómeno subjetivo; el color varía </a:t>
            </a:r>
            <a:endParaRPr sz="1400" b="0" i="1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b="0" i="1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según la cantidad de luz del ambiente y la distancia a la que se encuentra el objeto"</a:t>
            </a:r>
            <a:endParaRPr sz="1400" b="0" i="1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5550" y="547025"/>
            <a:ext cx="4761325" cy="32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625" y="1123919"/>
            <a:ext cx="2890250" cy="200390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 txBox="1"/>
          <p:nvPr/>
        </p:nvSpPr>
        <p:spPr>
          <a:xfrm>
            <a:off x="3455550" y="3909375"/>
            <a:ext cx="4442700" cy="10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 b="0" i="0" u="none" strike="noStrike" cap="none" dirty="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COLOR: Impresión que producen en la retina, los rayos de luz reflejados y absorbidos por un cuerpo, según la longitud de onda de estos rayos. </a:t>
            </a:r>
            <a:endParaRPr sz="1800" b="0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1638" y="831475"/>
            <a:ext cx="4640724" cy="348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2263" y="1113475"/>
            <a:ext cx="4059475" cy="37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 txBox="1"/>
          <p:nvPr/>
        </p:nvSpPr>
        <p:spPr>
          <a:xfrm>
            <a:off x="0" y="318475"/>
            <a:ext cx="91440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ES" sz="3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Síntesis aditiva del color</a:t>
            </a:r>
            <a:endParaRPr sz="35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3125" y="3455525"/>
            <a:ext cx="1558550" cy="14234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 txBox="1"/>
          <p:nvPr/>
        </p:nvSpPr>
        <p:spPr>
          <a:xfrm>
            <a:off x="6560750" y="2741800"/>
            <a:ext cx="25833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Síntesis sustractiva</a:t>
            </a:r>
            <a:endParaRPr sz="18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/>
        </p:nvSpPr>
        <p:spPr>
          <a:xfrm>
            <a:off x="0" y="318475"/>
            <a:ext cx="91440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ES" sz="3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Círculo cromático (RGB)</a:t>
            </a:r>
            <a:endParaRPr sz="35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" name="Google Shape;9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6050" y="611650"/>
            <a:ext cx="5743999" cy="446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/>
          <p:nvPr/>
        </p:nvSpPr>
        <p:spPr>
          <a:xfrm>
            <a:off x="0" y="318475"/>
            <a:ext cx="91440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ES" sz="3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Armonías tonales</a:t>
            </a:r>
            <a:endParaRPr sz="35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8"/>
          <p:cNvSpPr txBox="1"/>
          <p:nvPr/>
        </p:nvSpPr>
        <p:spPr>
          <a:xfrm>
            <a:off x="150" y="4656600"/>
            <a:ext cx="91440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https://paletton.com/#uid=1000u0kllllaFw0g0qFqFg0w0aF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3350" y="1051975"/>
            <a:ext cx="6077284" cy="345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 txBox="1"/>
          <p:nvPr/>
        </p:nvSpPr>
        <p:spPr>
          <a:xfrm>
            <a:off x="0" y="318475"/>
            <a:ext cx="91440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ES" sz="25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Existen distintos sistemas de representación</a:t>
            </a:r>
            <a:endParaRPr sz="2500" b="1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9"/>
          <p:cNvSpPr txBox="1"/>
          <p:nvPr/>
        </p:nvSpPr>
        <p:spPr>
          <a:xfrm>
            <a:off x="1281925" y="1146550"/>
            <a:ext cx="6895200" cy="3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RGB = Red - Green - Blue</a:t>
            </a:r>
            <a:endParaRPr sz="18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RGBA = Red - Green - Blue - Alpha</a:t>
            </a:r>
            <a:endParaRPr sz="18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HSL = Hue - Saturation - Ligthness</a:t>
            </a:r>
            <a:endParaRPr sz="18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HSLA = Hue - Saturation - Ligthness - Alpha</a:t>
            </a:r>
            <a:endParaRPr sz="18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Hexadecimal = #</a:t>
            </a:r>
            <a:r>
              <a:rPr lang="es-ES" sz="1800" b="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RR</a:t>
            </a:r>
            <a:r>
              <a:rPr lang="es-ES" sz="1800" b="0" i="0" u="none" strike="noStrike" cap="none">
                <a:solidFill>
                  <a:srgbClr val="93C47D"/>
                </a:solidFill>
                <a:latin typeface="Roboto"/>
                <a:ea typeface="Roboto"/>
                <a:cs typeface="Roboto"/>
                <a:sym typeface="Roboto"/>
              </a:rPr>
              <a:t>GG</a:t>
            </a:r>
            <a:r>
              <a:rPr lang="es-ES" sz="1800" b="0" i="0" u="none" strike="noStrike" cap="non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BB</a:t>
            </a:r>
            <a:r>
              <a:rPr lang="es-ES" sz="1800" b="0" i="0" u="none" strike="noStrike" cap="non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AA</a:t>
            </a:r>
            <a:endParaRPr sz="1800" b="0" i="0" u="none" strike="noStrike" cap="none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0,1,2,3,4,5,6,7,8,9,A,B,C,D,E,F</a:t>
            </a:r>
            <a:endParaRPr sz="18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Otros (CMYK, HSV, ARGB, YUV ...)</a:t>
            </a:r>
            <a:endParaRPr sz="15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1281925" y="4422200"/>
            <a:ext cx="65130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https://es.wikipedia.org/wiki/</a:t>
            </a:r>
            <a:r>
              <a:rPr lang="es-ES" sz="11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Espacio_de_color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https://htmlcolorcodes.com/es/nombres-de-los-colores/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 txBox="1"/>
          <p:nvPr/>
        </p:nvSpPr>
        <p:spPr>
          <a:xfrm>
            <a:off x="1934800" y="762000"/>
            <a:ext cx="7209300" cy="23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ES" sz="25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¿Cómo se representa un color?</a:t>
            </a:r>
            <a:endParaRPr sz="2500" b="1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ES" sz="25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¿Cómo defino un color en particular?</a:t>
            </a:r>
            <a:endParaRPr sz="2500" b="1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0"/>
          <p:cNvSpPr txBox="1"/>
          <p:nvPr/>
        </p:nvSpPr>
        <p:spPr>
          <a:xfrm>
            <a:off x="1934800" y="2977825"/>
            <a:ext cx="5055900" cy="13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Función JavaScript</a:t>
            </a:r>
            <a:endParaRPr sz="1800" b="1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rgba(255,255,255,1);</a:t>
            </a:r>
            <a:endParaRPr sz="18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hsla(0,0,0,0);</a:t>
            </a:r>
            <a:endParaRPr sz="18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rgbClr val="43434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Colores hexadecimales</a:t>
            </a:r>
            <a:endParaRPr sz="2400" b="1">
              <a:solidFill>
                <a:srgbClr val="4343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endParaRPr b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1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5022900" cy="20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s-ES" sz="1400" b="1">
                <a:solidFill>
                  <a:srgbClr val="99999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Los valores de color hexadecimales también son compatibles con todos los navegadores.</a:t>
            </a:r>
            <a:endParaRPr sz="1400" b="1">
              <a:solidFill>
                <a:srgbClr val="99999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s-ES" sz="1400" b="1">
                <a:solidFill>
                  <a:srgbClr val="99999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 color hexadecimal se especifica con: # RR GG BB .</a:t>
            </a:r>
            <a:endParaRPr sz="1400" b="1">
              <a:solidFill>
                <a:srgbClr val="99999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s-ES" sz="1400" b="1">
                <a:solidFill>
                  <a:srgbClr val="99999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RR (rojo), GG (verde) y BB (azul) son enteros hexadecimales entre 00 y FF que especifican la intensidad del color.</a:t>
            </a:r>
            <a:endParaRPr sz="1400" b="1">
              <a:solidFill>
                <a:srgbClr val="99999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sz="1400" b="1">
              <a:solidFill>
                <a:srgbClr val="4343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1600"/>
              </a:spcAft>
              <a:buSzPts val="1800"/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23" name="Google Shape;123;p11"/>
          <p:cNvSpPr txBox="1"/>
          <p:nvPr/>
        </p:nvSpPr>
        <p:spPr>
          <a:xfrm>
            <a:off x="1216825" y="3066500"/>
            <a:ext cx="1138500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#00FFFF</a:t>
            </a:r>
            <a:endParaRPr sz="14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1309825" y="3600450"/>
            <a:ext cx="952500" cy="9525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1"/>
          <p:cNvSpPr txBox="1"/>
          <p:nvPr/>
        </p:nvSpPr>
        <p:spPr>
          <a:xfrm>
            <a:off x="4002750" y="3066500"/>
            <a:ext cx="1138500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#AAFF00</a:t>
            </a:r>
            <a:endParaRPr sz="14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4095750" y="3600450"/>
            <a:ext cx="952500" cy="952500"/>
          </a:xfrm>
          <a:prstGeom prst="ellipse">
            <a:avLst/>
          </a:prstGeom>
          <a:solidFill>
            <a:srgbClr val="AA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1"/>
          <p:cNvSpPr txBox="1"/>
          <p:nvPr/>
        </p:nvSpPr>
        <p:spPr>
          <a:xfrm>
            <a:off x="6881675" y="3066500"/>
            <a:ext cx="1138500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#9955DD</a:t>
            </a:r>
            <a:endParaRPr sz="14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6974675" y="3600450"/>
            <a:ext cx="952500" cy="952500"/>
          </a:xfrm>
          <a:prstGeom prst="ellipse">
            <a:avLst/>
          </a:prstGeom>
          <a:solidFill>
            <a:srgbClr val="9955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1"/>
          <p:cNvSpPr txBox="1"/>
          <p:nvPr/>
        </p:nvSpPr>
        <p:spPr>
          <a:xfrm>
            <a:off x="0" y="4686300"/>
            <a:ext cx="91440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https://www.w3schools.com/Colors/default.asp</a:t>
            </a:r>
            <a:endParaRPr sz="1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7125" y="570050"/>
            <a:ext cx="2106584" cy="174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2075" y="1624275"/>
            <a:ext cx="3883950" cy="164148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2"/>
          <p:cNvSpPr txBox="1"/>
          <p:nvPr/>
        </p:nvSpPr>
        <p:spPr>
          <a:xfrm>
            <a:off x="486800" y="3360450"/>
            <a:ext cx="30660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Un pixel de color se representa </a:t>
            </a:r>
            <a:endParaRPr sz="1400" b="1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en el modelo RGB con 3 bytes</a:t>
            </a:r>
            <a:endParaRPr sz="14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6800" y="1624275"/>
            <a:ext cx="3668076" cy="164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2"/>
          <p:cNvSpPr txBox="1"/>
          <p:nvPr/>
        </p:nvSpPr>
        <p:spPr>
          <a:xfrm>
            <a:off x="4842075" y="3360450"/>
            <a:ext cx="27696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Un pixel de color se representa en el modelo RGBA con 4 bytes</a:t>
            </a:r>
            <a:endParaRPr sz="1400" b="1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2"/>
          <p:cNvSpPr txBox="1"/>
          <p:nvPr/>
        </p:nvSpPr>
        <p:spPr>
          <a:xfrm>
            <a:off x="75" y="0"/>
            <a:ext cx="9144000" cy="13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ES" sz="35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Pixel RGB y RGBA</a:t>
            </a:r>
            <a:endParaRPr sz="3500" b="1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/>
        </p:nvSpPr>
        <p:spPr>
          <a:xfrm>
            <a:off x="673625" y="3124200"/>
            <a:ext cx="7432200" cy="1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ES" sz="25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let color = rgba(255,100, 50, 0.5);</a:t>
            </a:r>
            <a:endParaRPr sz="25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5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let color2 = rgba(255, 225, 175, 1);</a:t>
            </a:r>
            <a:endParaRPr sz="25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5769350" y="2345388"/>
            <a:ext cx="605100" cy="605100"/>
          </a:xfrm>
          <a:prstGeom prst="ellipse">
            <a:avLst/>
          </a:prstGeom>
          <a:solidFill>
            <a:srgbClr val="FFC864">
              <a:alpha val="5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5769350" y="4179863"/>
            <a:ext cx="605100" cy="605100"/>
          </a:xfrm>
          <a:prstGeom prst="ellipse">
            <a:avLst/>
          </a:prstGeom>
          <a:solidFill>
            <a:srgbClr val="FFE2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0" y="152400"/>
            <a:ext cx="2523271" cy="2088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/>
          <p:nvPr/>
        </p:nvSpPr>
        <p:spPr>
          <a:xfrm>
            <a:off x="75" y="0"/>
            <a:ext cx="9144000" cy="13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ES" sz="3500" b="1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Alpha</a:t>
            </a:r>
            <a:endParaRPr sz="3500" b="1" i="0" u="none" strike="noStrike" cap="non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3" name="Google Shape;15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94524" y="1321949"/>
            <a:ext cx="3555100" cy="1483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7172" y="3091941"/>
            <a:ext cx="3529929" cy="1483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125" y="216700"/>
            <a:ext cx="7810499" cy="398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 txBox="1"/>
          <p:nvPr/>
        </p:nvSpPr>
        <p:spPr>
          <a:xfrm>
            <a:off x="550975" y="4292075"/>
            <a:ext cx="46497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http://www.workwithcolor.com/color-converter-01.htm</a:t>
            </a:r>
            <a:endParaRPr sz="1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https://www.calculadoraconversor.com/conversores/modelos-de-color/</a:t>
            </a: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https://www.w3schools.com/TAGs/ref_colornames.asp</a:t>
            </a: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Dibujando en web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311700" y="1986776"/>
            <a:ext cx="7432200" cy="1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s-ES" sz="28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canvas</a:t>
            </a:r>
            <a:r>
              <a:rPr lang="es-E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es el elemento donde se dibuja en HTML5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s-E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provee la funcionalidad para dibujar.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[!]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Todos los elementos visuales de la página tienen un </a:t>
            </a:r>
            <a:r>
              <a:rPr lang="es-ES" sz="2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Ejemplo de uso de Canvas</a:t>
            </a:r>
            <a:endParaRPr/>
          </a:p>
        </p:txBody>
      </p:sp>
      <p:pic>
        <p:nvPicPr>
          <p:cNvPr id="172" name="Google Shape;1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707" y="1356333"/>
            <a:ext cx="6914771" cy="2706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/>
          <p:cNvPicPr preferRelativeResize="0"/>
          <p:nvPr/>
        </p:nvPicPr>
        <p:blipFill rotWithShape="1">
          <a:blip r:embed="rId4">
            <a:alphaModFix/>
          </a:blip>
          <a:srcRect t="4533"/>
          <a:stretch/>
        </p:blipFill>
        <p:spPr>
          <a:xfrm>
            <a:off x="7286478" y="3254297"/>
            <a:ext cx="1545822" cy="1261361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174" name="Google Shape;174;p17"/>
          <p:cNvSpPr txBox="1"/>
          <p:nvPr/>
        </p:nvSpPr>
        <p:spPr>
          <a:xfrm>
            <a:off x="55222" y="457098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E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To-Do: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Buscar la referencia de los métodos de Context, y experimentar…</a:t>
            </a:r>
            <a:b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Imágenes</a:t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2157" y="1960426"/>
            <a:ext cx="3419686" cy="306346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11700" y="871654"/>
            <a:ext cx="7432200" cy="1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ES" sz="25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Una imagen digital es una matriz 2D (WxH) de píxeles. </a:t>
            </a:r>
            <a:endParaRPr sz="25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796" y="2293666"/>
            <a:ext cx="3733375" cy="15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5596" y="374242"/>
            <a:ext cx="1529025" cy="19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32475" y="1123250"/>
            <a:ext cx="2892325" cy="37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Representar imágenes</a:t>
            </a:r>
            <a:endParaRPr sz="1800"/>
          </a:p>
        </p:txBody>
      </p:sp>
      <p:sp>
        <p:nvSpPr>
          <p:cNvPr id="194" name="Google Shape;19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/>
              <a:t>HTML5 provee un “</a:t>
            </a:r>
            <a:r>
              <a:rPr lang="es-ES" sz="2000" i="1"/>
              <a:t>ImageData” 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/>
              <a:t>La imagen se recorre en </a:t>
            </a:r>
            <a:r>
              <a:rPr lang="es-ES" sz="2000" i="1"/>
              <a:t>Ancho</a:t>
            </a:r>
            <a:r>
              <a:rPr lang="es-ES" sz="2000"/>
              <a:t> y </a:t>
            </a:r>
            <a:r>
              <a:rPr lang="es-ES" sz="2000" i="1"/>
              <a:t>Alto (for, for)</a:t>
            </a:r>
            <a:endParaRPr sz="20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i="1"/>
              <a:t>“ImageData” </a:t>
            </a:r>
            <a:r>
              <a:rPr lang="es-ES" sz="2000"/>
              <a:t>almacena los pixeles en un arreglo de 1d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/>
              <a:t>Los colores se almacenan en un </a:t>
            </a:r>
            <a:r>
              <a:rPr lang="es-ES" sz="2000" i="1"/>
              <a:t>Array de enteros</a:t>
            </a:r>
            <a:r>
              <a:rPr lang="es-ES" sz="2000"/>
              <a:t> y se pueden acceder como si fueran una matriz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/>
              <a:t>Para dibujar la Imagen en Pantalla: </a:t>
            </a:r>
            <a:r>
              <a:rPr lang="es-ES" sz="1800" b="1"/>
              <a:t>ctx.putImageData ( Imagen, x, y) ;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Para convertir de matriz a arreglo?</a:t>
            </a:r>
            <a:endParaRPr sz="1800"/>
          </a:p>
          <a:p>
            <a:pPr marL="109537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2646557" y="4442015"/>
            <a:ext cx="339548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i="1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indice = (x + y * imageData.width) * 4;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646556" y="4169846"/>
            <a:ext cx="10839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i="1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indice = 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Crear imagen desde cero</a:t>
            </a:r>
            <a:endParaRPr sz="1800"/>
          </a:p>
        </p:txBody>
      </p:sp>
      <p:pic>
        <p:nvPicPr>
          <p:cNvPr id="202" name="Google Shape;20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815" y="3011869"/>
            <a:ext cx="5323301" cy="192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815" y="1017725"/>
            <a:ext cx="5323301" cy="1889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Cómo cargar una imagen?</a:t>
            </a:r>
            <a:endParaRPr sz="1800"/>
          </a:p>
        </p:txBody>
      </p:sp>
      <p:sp>
        <p:nvSpPr>
          <p:cNvPr id="209" name="Google Shape;20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67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/>
              <a:t>La carga de imágenes es </a:t>
            </a:r>
            <a:r>
              <a:rPr lang="es-ES" sz="2000" b="1"/>
              <a:t>asincrónica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/>
              <a:t>El script se ejecuta secuencialmente línea por línea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/>
              <a:t>El tiempo de demora depende del tamaño de la imagen y de la latencia del servidor que la tiene</a:t>
            </a:r>
            <a:endParaRPr/>
          </a:p>
          <a:p>
            <a:pPr marL="109537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10" name="Google Shape;210;p22"/>
          <p:cNvPicPr preferRelativeResize="0"/>
          <p:nvPr/>
        </p:nvPicPr>
        <p:blipFill rotWithShape="1">
          <a:blip r:embed="rId3">
            <a:alphaModFix/>
          </a:blip>
          <a:srcRect b="6974"/>
          <a:stretch/>
        </p:blipFill>
        <p:spPr>
          <a:xfrm>
            <a:off x="1655955" y="2967160"/>
            <a:ext cx="4246685" cy="149332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6193102" y="3506381"/>
            <a:ext cx="251062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s-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Puede que la imagen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esté cargada en memoria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 momento de dibujarla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Cargar una imagen y dibujarla</a:t>
            </a:r>
            <a:endParaRPr/>
          </a:p>
        </p:txBody>
      </p:sp>
      <p:pic>
        <p:nvPicPr>
          <p:cNvPr id="217" name="Google Shape;21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5780" y="1428751"/>
            <a:ext cx="4076371" cy="265651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6204716" y="1146313"/>
            <a:ext cx="10858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Ubicación del recurso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6457950" y="2105861"/>
            <a:ext cx="131445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Evento de finalización de la carga del recurso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6204716" y="3321776"/>
            <a:ext cx="131445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Dibujo la imagen usando el contexto del HTML5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23"/>
          <p:cNvCxnSpPr>
            <a:stCxn id="218" idx="1"/>
          </p:cNvCxnSpPr>
          <p:nvPr/>
        </p:nvCxnSpPr>
        <p:spPr>
          <a:xfrm flipH="1">
            <a:off x="4915016" y="1354062"/>
            <a:ext cx="1289700" cy="391800"/>
          </a:xfrm>
          <a:prstGeom prst="straightConnector1">
            <a:avLst/>
          </a:prstGeom>
          <a:noFill/>
          <a:ln w="38100" cap="flat" cmpd="sng">
            <a:solidFill>
              <a:srgbClr val="20202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23"/>
          <p:cNvCxnSpPr>
            <a:stCxn id="219" idx="1"/>
          </p:cNvCxnSpPr>
          <p:nvPr/>
        </p:nvCxnSpPr>
        <p:spPr>
          <a:xfrm rot="10800000">
            <a:off x="5200650" y="2235401"/>
            <a:ext cx="1257300" cy="159000"/>
          </a:xfrm>
          <a:prstGeom prst="straightConnector1">
            <a:avLst/>
          </a:prstGeom>
          <a:noFill/>
          <a:ln w="38100" cap="flat" cmpd="sng">
            <a:solidFill>
              <a:srgbClr val="20202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23"/>
          <p:cNvCxnSpPr>
            <a:stCxn id="220" idx="1"/>
          </p:cNvCxnSpPr>
          <p:nvPr/>
        </p:nvCxnSpPr>
        <p:spPr>
          <a:xfrm rot="10800000">
            <a:off x="5397716" y="3460917"/>
            <a:ext cx="807000" cy="149400"/>
          </a:xfrm>
          <a:prstGeom prst="straightConnector1">
            <a:avLst/>
          </a:prstGeom>
          <a:noFill/>
          <a:ln w="38100" cap="flat" cmpd="sng">
            <a:solidFill>
              <a:srgbClr val="20202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Por qué se usa .onload() ?</a:t>
            </a:r>
            <a:endParaRPr/>
          </a:p>
        </p:txBody>
      </p:sp>
      <p:pic>
        <p:nvPicPr>
          <p:cNvPr id="229" name="Google Shape;22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3" y="1017725"/>
            <a:ext cx="6944926" cy="4022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ES"/>
              <a:t>Acceder a los pixeles</a:t>
            </a:r>
            <a:endParaRPr/>
          </a:p>
        </p:txBody>
      </p:sp>
      <p:sp>
        <p:nvSpPr>
          <p:cNvPr id="242" name="Google Shape;242;p26"/>
          <p:cNvSpPr txBox="1">
            <a:spLocks noGrp="1"/>
          </p:cNvSpPr>
          <p:nvPr>
            <p:ph type="body" idx="1"/>
          </p:nvPr>
        </p:nvSpPr>
        <p:spPr>
          <a:xfrm>
            <a:off x="1143000" y="1035076"/>
            <a:ext cx="6858000" cy="4108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b="1"/>
              <a:t>ImageData</a:t>
            </a:r>
            <a:r>
              <a:rPr lang="es-ES" i="1"/>
              <a:t> </a:t>
            </a:r>
            <a:r>
              <a:rPr lang="es-ES"/>
              <a:t>almacena los pixeles en un arreglo de 1D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El </a:t>
            </a:r>
            <a:r>
              <a:rPr lang="es-ES" b="1"/>
              <a:t>Context</a:t>
            </a:r>
            <a:r>
              <a:rPr lang="es-ES"/>
              <a:t> provee métodos para acceder a los pixeles que ya se dibujaron en el contexto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No puedo acceder a los pixeles de una Imagen directamente</a:t>
            </a:r>
            <a:endParaRPr/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Entonces, para acceder a los pixeles de una imagen…</a:t>
            </a:r>
            <a:endParaRPr/>
          </a:p>
          <a:p>
            <a:pPr marL="82153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		</a:t>
            </a:r>
            <a:r>
              <a:rPr lang="es-ES" b="1"/>
              <a:t>¡Primero tengo que dibujar la imagen!</a:t>
            </a:r>
            <a:endParaRPr b="1"/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43" name="Google Shape;243;p26"/>
          <p:cNvSpPr/>
          <p:nvPr/>
        </p:nvSpPr>
        <p:spPr>
          <a:xfrm>
            <a:off x="3086101" y="2743040"/>
            <a:ext cx="827786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☹</a:t>
            </a:r>
            <a:endParaRPr sz="3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>
            <a:spLocks noGrp="1"/>
          </p:cNvSpPr>
          <p:nvPr>
            <p:ph type="title"/>
          </p:nvPr>
        </p:nvSpPr>
        <p:spPr>
          <a:xfrm>
            <a:off x="1428750" y="171450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Acceder a los pixeles</a:t>
            </a:r>
            <a:endParaRPr/>
          </a:p>
        </p:txBody>
      </p:sp>
      <p:pic>
        <p:nvPicPr>
          <p:cNvPr id="249" name="Google Shape;24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1028700"/>
            <a:ext cx="5590987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7"/>
          <p:cNvSpPr/>
          <p:nvPr/>
        </p:nvSpPr>
        <p:spPr>
          <a:xfrm>
            <a:off x="1943100" y="2743200"/>
            <a:ext cx="5314950" cy="342900"/>
          </a:xfrm>
          <a:prstGeom prst="rect">
            <a:avLst/>
          </a:prstGeom>
          <a:noFill/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4514850" y="4165252"/>
            <a:ext cx="320040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IMPORTANTE:</a:t>
            </a:r>
            <a:r>
              <a:rPr lang="es-ES"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Por políticas de seguridad, Chrome </a:t>
            </a:r>
            <a:r>
              <a:rPr lang="es-ES" sz="10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lang="es-ES"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acceder directamente a los datos de la imagen.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¿Cómo accedo a cada pixel?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¿Cómo obtengo las componentes R, G y B?</a:t>
            </a:r>
            <a:endParaRPr/>
          </a:p>
        </p:txBody>
      </p:sp>
      <p:sp>
        <p:nvSpPr>
          <p:cNvPr id="257" name="Google Shape;25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Acceder a los pixeles</a:t>
            </a:r>
            <a:endParaRPr/>
          </a:p>
        </p:txBody>
      </p:sp>
      <p:pic>
        <p:nvPicPr>
          <p:cNvPr id="258" name="Google Shape;25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3301" y="1985519"/>
            <a:ext cx="4114800" cy="2881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0" y="1988218"/>
            <a:ext cx="4114800" cy="298383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¿Cómo accedo a cada pixel?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¿Cómo obtengo las componentes R, G y B?</a:t>
            </a:r>
            <a:endParaRPr/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Acceder a los pixeles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Filtros</a:t>
            </a:r>
            <a:endParaRPr/>
          </a:p>
        </p:txBody>
      </p:sp>
      <p:sp>
        <p:nvSpPr>
          <p:cNvPr id="272" name="Google Shape;272;p30"/>
          <p:cNvSpPr txBox="1">
            <a:spLocks noGrp="1"/>
          </p:cNvSpPr>
          <p:nvPr>
            <p:ph type="body" idx="1"/>
          </p:nvPr>
        </p:nvSpPr>
        <p:spPr>
          <a:xfrm>
            <a:off x="1143000" y="1035076"/>
            <a:ext cx="6858000" cy="222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Modifica el valor de un pixel dado una ecuación matemática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Este valor puede ser simplemente un coeficiente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82153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i="1"/>
              <a:t>Gris  =  (R + G + B) / 3</a:t>
            </a:r>
            <a:endParaRPr/>
          </a:p>
        </p:txBody>
      </p:sp>
      <p:pic>
        <p:nvPicPr>
          <p:cNvPr id="273" name="Google Shape;27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9801" y="3819457"/>
            <a:ext cx="1309755" cy="1324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0" descr="http://tr1.cbsistatic.com/hub/i/2007/08/21/2607daf1-c3be-11e2-bc00-02911874f8c8/normal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4443" y="2734389"/>
            <a:ext cx="2135981" cy="971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0" descr="http://tr1.cbsistatic.com/hub/i/2007/08/21/26208810-c3be-11e2-bc00-02911874f8c8/grayscal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23299" y="2734627"/>
            <a:ext cx="2135981" cy="971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0" descr="http://tr1.cbsistatic.com/hub/i/2007/08/21/26375001-c3be-11e2-bc00-02911874f8c8/sepiatone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72151" y="2734389"/>
            <a:ext cx="2135981" cy="97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799</Words>
  <Application>Microsoft Office PowerPoint</Application>
  <PresentationFormat>Presentación en pantalla (16:9)</PresentationFormat>
  <Paragraphs>111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Roboto</vt:lpstr>
      <vt:lpstr>Arial</vt:lpstr>
      <vt:lpstr>Roboto Light</vt:lpstr>
      <vt:lpstr>Simple Light</vt:lpstr>
      <vt:lpstr>Presentación de PowerPoint</vt:lpstr>
      <vt:lpstr>¿Qué es el color?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Colores hexadecimales </vt:lpstr>
      <vt:lpstr>Presentación de PowerPoint</vt:lpstr>
      <vt:lpstr>Presentación de PowerPoint</vt:lpstr>
      <vt:lpstr>Presentación de PowerPoint</vt:lpstr>
      <vt:lpstr>Presentación de PowerPoint</vt:lpstr>
      <vt:lpstr>Dibujando en web</vt:lpstr>
      <vt:lpstr>Ejemplo de uso de Canvas</vt:lpstr>
      <vt:lpstr>Imágenes</vt:lpstr>
      <vt:lpstr>Presentación de PowerPoint</vt:lpstr>
      <vt:lpstr>Representar imágenes</vt:lpstr>
      <vt:lpstr>Crear imagen desde cero</vt:lpstr>
      <vt:lpstr>Cómo cargar una imagen?</vt:lpstr>
      <vt:lpstr>Cargar una imagen y dibujarla</vt:lpstr>
      <vt:lpstr>Por qué se usa .onload() ?</vt:lpstr>
      <vt:lpstr>Acceder a los pixeles</vt:lpstr>
      <vt:lpstr>Acceder a los pixeles</vt:lpstr>
      <vt:lpstr>Acceder a los pixeles</vt:lpstr>
      <vt:lpstr>Acceder a los pixeles</vt:lpstr>
      <vt:lpstr>Filtros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Cristian Garcia Bauza</dc:creator>
  <cp:lastModifiedBy>Facundo</cp:lastModifiedBy>
  <cp:revision>4</cp:revision>
  <dcterms:modified xsi:type="dcterms:W3CDTF">2024-08-16T21:17:16Z</dcterms:modified>
</cp:coreProperties>
</file>