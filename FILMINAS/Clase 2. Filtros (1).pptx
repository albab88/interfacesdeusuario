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9" d="100"/>
          <a:sy n="129" d="100"/>
        </p:scale>
        <p:origin x="1104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4725" y="503825"/>
            <a:ext cx="1587500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3825"/>
            <a:ext cx="4234180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4349" y="952608"/>
            <a:ext cx="7706359" cy="16910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hyperlink" Target="https://es.wikipedia.org/wiki/Operador_Sobel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HSL_and_HSV" TargetMode="External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09853" y="1797845"/>
            <a:ext cx="3062347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spc="15" dirty="0">
                <a:solidFill>
                  <a:srgbClr val="6C9EEB"/>
                </a:solidFill>
                <a:latin typeface="Roboto"/>
                <a:cs typeface="Roboto"/>
              </a:rPr>
              <a:t>FI</a:t>
            </a:r>
            <a:r>
              <a:rPr sz="6000" b="1" spc="-600" dirty="0">
                <a:solidFill>
                  <a:srgbClr val="6C9EEB"/>
                </a:solidFill>
                <a:latin typeface="Roboto"/>
                <a:cs typeface="Roboto"/>
              </a:rPr>
              <a:t>L</a:t>
            </a:r>
            <a:r>
              <a:rPr sz="6000" b="1" spc="20" dirty="0">
                <a:solidFill>
                  <a:srgbClr val="6C9EEB"/>
                </a:solidFill>
                <a:latin typeface="Roboto"/>
                <a:cs typeface="Roboto"/>
              </a:rPr>
              <a:t>T</a:t>
            </a:r>
            <a:r>
              <a:rPr sz="6000" b="1" spc="15" dirty="0">
                <a:solidFill>
                  <a:srgbClr val="6C9EEB"/>
                </a:solidFill>
                <a:latin typeface="Roboto"/>
                <a:cs typeface="Roboto"/>
              </a:rPr>
              <a:t>ROS</a:t>
            </a:r>
            <a:endParaRPr sz="6000" dirty="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88533" y="4128931"/>
            <a:ext cx="3994785" cy="515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CCCCCC"/>
                </a:solidFill>
                <a:latin typeface="Roboto"/>
                <a:cs typeface="Roboto"/>
              </a:rPr>
              <a:t>UNCPBA/</a:t>
            </a:r>
            <a:r>
              <a:rPr sz="1800" b="1" spc="-45" dirty="0">
                <a:solidFill>
                  <a:srgbClr val="CCCCCC"/>
                </a:solidFill>
                <a:latin typeface="Roboto"/>
                <a:cs typeface="Roboto"/>
              </a:rPr>
              <a:t> </a:t>
            </a:r>
            <a:r>
              <a:rPr sz="1800" b="1" spc="-25" dirty="0">
                <a:solidFill>
                  <a:srgbClr val="CCCCCC"/>
                </a:solidFill>
                <a:latin typeface="Roboto"/>
                <a:cs typeface="Roboto"/>
              </a:rPr>
              <a:t>FCE</a:t>
            </a:r>
            <a:endParaRPr sz="18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1400" spc="-20" dirty="0">
                <a:solidFill>
                  <a:srgbClr val="CCCCCC"/>
                </a:solidFill>
                <a:latin typeface="Roboto Lt"/>
                <a:cs typeface="Roboto Lt"/>
              </a:rPr>
              <a:t>INTERFACES </a:t>
            </a:r>
            <a:r>
              <a:rPr sz="1400" dirty="0">
                <a:solidFill>
                  <a:srgbClr val="CCCCCC"/>
                </a:solidFill>
                <a:latin typeface="Roboto Lt"/>
                <a:cs typeface="Roboto Lt"/>
              </a:rPr>
              <a:t>DE</a:t>
            </a:r>
            <a:r>
              <a:rPr sz="1400" spc="-20" dirty="0">
                <a:solidFill>
                  <a:srgbClr val="CCCCCC"/>
                </a:solidFill>
                <a:latin typeface="Roboto Lt"/>
                <a:cs typeface="Roboto Lt"/>
              </a:rPr>
              <a:t> USUARIO</a:t>
            </a:r>
            <a:r>
              <a:rPr sz="1400" spc="-15" dirty="0">
                <a:solidFill>
                  <a:srgbClr val="CCCCCC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CCCCCC"/>
                </a:solidFill>
                <a:latin typeface="Roboto Lt"/>
                <a:cs typeface="Roboto Lt"/>
              </a:rPr>
              <a:t>E</a:t>
            </a:r>
            <a:r>
              <a:rPr sz="1400" spc="-20" dirty="0">
                <a:solidFill>
                  <a:srgbClr val="CCCCCC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CCCCCC"/>
                </a:solidFill>
                <a:latin typeface="Roboto Lt"/>
                <a:cs typeface="Roboto Lt"/>
              </a:rPr>
              <a:t>INTERACCIÓN</a:t>
            </a:r>
            <a:r>
              <a:rPr sz="1400" spc="-20" dirty="0">
                <a:solidFill>
                  <a:srgbClr val="CCCCCC"/>
                </a:solidFill>
                <a:latin typeface="Roboto Lt"/>
                <a:cs typeface="Roboto Lt"/>
              </a:rPr>
              <a:t> </a:t>
            </a:r>
            <a:r>
              <a:rPr sz="1400" dirty="0">
                <a:solidFill>
                  <a:srgbClr val="CCCCCC"/>
                </a:solidFill>
                <a:latin typeface="Roboto Lt"/>
                <a:cs typeface="Roboto Lt"/>
              </a:rPr>
              <a:t>|</a:t>
            </a:r>
            <a:r>
              <a:rPr sz="1400" spc="-40" dirty="0">
                <a:solidFill>
                  <a:srgbClr val="CCCCCC"/>
                </a:solidFill>
                <a:latin typeface="Roboto Lt"/>
                <a:cs typeface="Roboto Lt"/>
              </a:rPr>
              <a:t> </a:t>
            </a:r>
            <a:r>
              <a:rPr sz="1400" spc="-10" dirty="0">
                <a:solidFill>
                  <a:srgbClr val="CCCCCC"/>
                </a:solidFill>
                <a:latin typeface="Roboto Lt"/>
                <a:cs typeface="Roboto Lt"/>
              </a:rPr>
              <a:t>TUDAI</a:t>
            </a:r>
            <a:endParaRPr sz="1400">
              <a:latin typeface="Roboto Lt"/>
              <a:cs typeface="Roboto 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Imágenes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62157" y="1960426"/>
            <a:ext cx="3419685" cy="306346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4725" y="1016354"/>
            <a:ext cx="648462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434343"/>
                </a:solidFill>
                <a:latin typeface="Roboto"/>
                <a:cs typeface="Roboto"/>
              </a:rPr>
              <a:t>Una</a:t>
            </a:r>
            <a:r>
              <a:rPr sz="2500" spc="-9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500" spc="-10" dirty="0">
                <a:solidFill>
                  <a:srgbClr val="434343"/>
                </a:solidFill>
                <a:latin typeface="Roboto"/>
                <a:cs typeface="Roboto"/>
              </a:rPr>
              <a:t>imagen</a:t>
            </a:r>
            <a:r>
              <a:rPr sz="2500" spc="-9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500" spc="-10" dirty="0">
                <a:solidFill>
                  <a:srgbClr val="434343"/>
                </a:solidFill>
                <a:latin typeface="Roboto"/>
                <a:cs typeface="Roboto"/>
              </a:rPr>
              <a:t>digital</a:t>
            </a:r>
            <a:r>
              <a:rPr sz="2500" spc="-9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500" dirty="0">
                <a:solidFill>
                  <a:srgbClr val="434343"/>
                </a:solidFill>
                <a:latin typeface="Roboto"/>
                <a:cs typeface="Roboto"/>
              </a:rPr>
              <a:t>es</a:t>
            </a:r>
            <a:r>
              <a:rPr sz="2500" spc="-9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500" dirty="0">
                <a:solidFill>
                  <a:srgbClr val="434343"/>
                </a:solidFill>
                <a:latin typeface="Roboto"/>
                <a:cs typeface="Roboto"/>
              </a:rPr>
              <a:t>una</a:t>
            </a:r>
            <a:r>
              <a:rPr sz="2500" spc="-9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500" spc="-10" dirty="0">
                <a:solidFill>
                  <a:srgbClr val="434343"/>
                </a:solidFill>
                <a:latin typeface="Roboto"/>
                <a:cs typeface="Roboto"/>
              </a:rPr>
              <a:t>matriz</a:t>
            </a:r>
            <a:r>
              <a:rPr sz="2500" spc="-9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500" dirty="0">
                <a:solidFill>
                  <a:srgbClr val="434343"/>
                </a:solidFill>
                <a:latin typeface="Roboto"/>
                <a:cs typeface="Roboto"/>
              </a:rPr>
              <a:t>2D</a:t>
            </a:r>
            <a:r>
              <a:rPr sz="2500" spc="-8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500" dirty="0">
                <a:solidFill>
                  <a:srgbClr val="434343"/>
                </a:solidFill>
                <a:latin typeface="Roboto"/>
                <a:cs typeface="Roboto"/>
              </a:rPr>
              <a:t>(WxH)</a:t>
            </a:r>
            <a:r>
              <a:rPr sz="2500" spc="-9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500" spc="-25" dirty="0">
                <a:solidFill>
                  <a:srgbClr val="434343"/>
                </a:solidFill>
                <a:latin typeface="Roboto"/>
                <a:cs typeface="Roboto"/>
              </a:rPr>
              <a:t>de </a:t>
            </a:r>
            <a:r>
              <a:rPr sz="2500" spc="-10" dirty="0">
                <a:solidFill>
                  <a:srgbClr val="434343"/>
                </a:solidFill>
                <a:latin typeface="Roboto"/>
                <a:cs typeface="Roboto"/>
              </a:rPr>
              <a:t>píxeles.</a:t>
            </a:r>
            <a:endParaRPr sz="25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5796" y="2293666"/>
            <a:ext cx="3723576" cy="15579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29699" y="478346"/>
            <a:ext cx="1301297" cy="17177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54342" y="1253243"/>
            <a:ext cx="2616091" cy="35179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Representar</a:t>
            </a:r>
            <a:r>
              <a:rPr spc="-160" dirty="0"/>
              <a:t> </a:t>
            </a:r>
            <a:r>
              <a:rPr spc="-10" dirty="0"/>
              <a:t>imágenes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69620"/>
            <a:ext cx="8058784" cy="352996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59"/>
              </a:spcBef>
              <a:buSzPct val="90000"/>
              <a:buChar char="●"/>
              <a:tabLst>
                <a:tab pos="379095" algn="l"/>
              </a:tabLst>
            </a:pP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HTML5</a:t>
            </a:r>
            <a:r>
              <a:rPr sz="20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provee</a:t>
            </a:r>
            <a:r>
              <a:rPr sz="20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un</a:t>
            </a:r>
            <a:r>
              <a:rPr sz="20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“</a:t>
            </a:r>
            <a:r>
              <a:rPr sz="2000" i="1" dirty="0">
                <a:solidFill>
                  <a:srgbClr val="595959"/>
                </a:solidFill>
                <a:latin typeface="Arial"/>
                <a:cs typeface="Arial"/>
              </a:rPr>
              <a:t>ImageData”</a:t>
            </a:r>
            <a:r>
              <a:rPr sz="2000" i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i="1" spc="-50" dirty="0">
                <a:solidFill>
                  <a:srgbClr val="595959"/>
                </a:solidFill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59"/>
              </a:spcBef>
              <a:buSzPct val="90000"/>
              <a:buChar char="●"/>
              <a:tabLst>
                <a:tab pos="379095" algn="l"/>
              </a:tabLst>
            </a:pP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La</a:t>
            </a:r>
            <a:r>
              <a:rPr sz="2000" spc="-5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imagen</a:t>
            </a:r>
            <a:r>
              <a:rPr sz="2000" spc="-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se</a:t>
            </a:r>
            <a:r>
              <a:rPr sz="2000" spc="-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recorre</a:t>
            </a:r>
            <a:r>
              <a:rPr sz="2000" spc="-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en</a:t>
            </a:r>
            <a:r>
              <a:rPr sz="20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i="1" dirty="0">
                <a:solidFill>
                  <a:srgbClr val="595959"/>
                </a:solidFill>
                <a:latin typeface="Arial"/>
                <a:cs typeface="Arial"/>
              </a:rPr>
              <a:t>Ancho</a:t>
            </a:r>
            <a:r>
              <a:rPr sz="2000" i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y</a:t>
            </a:r>
            <a:r>
              <a:rPr sz="20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i="1" dirty="0">
                <a:solidFill>
                  <a:srgbClr val="595959"/>
                </a:solidFill>
                <a:latin typeface="Arial"/>
                <a:cs typeface="Arial"/>
              </a:rPr>
              <a:t>Alto</a:t>
            </a:r>
            <a:r>
              <a:rPr sz="2000" i="1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595959"/>
                </a:solidFill>
                <a:latin typeface="Arial"/>
                <a:cs typeface="Arial"/>
              </a:rPr>
              <a:t>(for,</a:t>
            </a:r>
            <a:r>
              <a:rPr sz="2000" i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i="1" spc="-20" dirty="0">
                <a:solidFill>
                  <a:srgbClr val="595959"/>
                </a:solidFill>
                <a:latin typeface="Arial"/>
                <a:cs typeface="Arial"/>
              </a:rPr>
              <a:t>for)</a:t>
            </a:r>
            <a:endParaRPr sz="20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59"/>
              </a:spcBef>
              <a:buSzPct val="90000"/>
              <a:buChar char="●"/>
              <a:tabLst>
                <a:tab pos="379095" algn="l"/>
              </a:tabLst>
            </a:pPr>
            <a:r>
              <a:rPr sz="2000" i="1" dirty="0">
                <a:solidFill>
                  <a:srgbClr val="595959"/>
                </a:solidFill>
                <a:latin typeface="Arial"/>
                <a:cs typeface="Arial"/>
              </a:rPr>
              <a:t>“ImageData”</a:t>
            </a:r>
            <a:r>
              <a:rPr sz="2000" i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almacena</a:t>
            </a:r>
            <a:r>
              <a:rPr sz="20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los</a:t>
            </a:r>
            <a:r>
              <a:rPr sz="20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pixeles</a:t>
            </a:r>
            <a:r>
              <a:rPr sz="20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en</a:t>
            </a:r>
            <a:r>
              <a:rPr sz="20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un</a:t>
            </a:r>
            <a:r>
              <a:rPr sz="20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arreglo</a:t>
            </a:r>
            <a:r>
              <a:rPr sz="20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de</a:t>
            </a:r>
            <a:r>
              <a:rPr sz="20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Arial MT"/>
                <a:cs typeface="Arial MT"/>
              </a:rPr>
              <a:t>1d</a:t>
            </a:r>
            <a:endParaRPr sz="2000">
              <a:latin typeface="Arial MT"/>
              <a:cs typeface="Arial MT"/>
            </a:endParaRPr>
          </a:p>
          <a:p>
            <a:pPr marL="379095" marR="614680" indent="-367030">
              <a:lnSpc>
                <a:spcPct val="114999"/>
              </a:lnSpc>
              <a:buSzPct val="90000"/>
              <a:buChar char="●"/>
              <a:tabLst>
                <a:tab pos="379095" algn="l"/>
              </a:tabLst>
            </a:pP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Los</a:t>
            </a:r>
            <a:r>
              <a:rPr sz="20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colores</a:t>
            </a:r>
            <a:r>
              <a:rPr sz="20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se</a:t>
            </a:r>
            <a:r>
              <a:rPr sz="20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Arial MT"/>
                <a:cs typeface="Arial MT"/>
              </a:rPr>
              <a:t>almacenan</a:t>
            </a:r>
            <a:r>
              <a:rPr sz="20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en</a:t>
            </a:r>
            <a:r>
              <a:rPr sz="20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un</a:t>
            </a:r>
            <a:r>
              <a:rPr sz="20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i="1" dirty="0">
                <a:solidFill>
                  <a:srgbClr val="595959"/>
                </a:solidFill>
                <a:latin typeface="Arial"/>
                <a:cs typeface="Arial"/>
              </a:rPr>
              <a:t>Array</a:t>
            </a:r>
            <a:r>
              <a:rPr sz="2000" i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595959"/>
                </a:solidFill>
                <a:latin typeface="Arial"/>
                <a:cs typeface="Arial"/>
              </a:rPr>
              <a:t>de</a:t>
            </a:r>
            <a:r>
              <a:rPr sz="2000" i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595959"/>
                </a:solidFill>
                <a:latin typeface="Arial"/>
                <a:cs typeface="Arial"/>
              </a:rPr>
              <a:t>enteros</a:t>
            </a:r>
            <a:r>
              <a:rPr sz="2000" i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y</a:t>
            </a:r>
            <a:r>
              <a:rPr sz="20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se</a:t>
            </a:r>
            <a:r>
              <a:rPr sz="20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Arial MT"/>
                <a:cs typeface="Arial MT"/>
              </a:rPr>
              <a:t>pueden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acceder</a:t>
            </a:r>
            <a:r>
              <a:rPr sz="20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como</a:t>
            </a:r>
            <a:r>
              <a:rPr sz="20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si</a:t>
            </a:r>
            <a:r>
              <a:rPr sz="20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fueran</a:t>
            </a:r>
            <a:r>
              <a:rPr sz="20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una</a:t>
            </a:r>
            <a:r>
              <a:rPr sz="20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Arial MT"/>
                <a:cs typeface="Arial MT"/>
              </a:rPr>
              <a:t>matriz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19"/>
              </a:spcBef>
              <a:buFont typeface="Arial MT"/>
              <a:buChar char="●"/>
            </a:pPr>
            <a:endParaRPr sz="20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buSzPct val="90000"/>
              <a:buChar char="●"/>
              <a:tabLst>
                <a:tab pos="379095" algn="l"/>
              </a:tabLst>
            </a:pP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Para</a:t>
            </a:r>
            <a:r>
              <a:rPr sz="20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dibujar</a:t>
            </a:r>
            <a:r>
              <a:rPr sz="20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la</a:t>
            </a:r>
            <a:r>
              <a:rPr sz="20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Imagen</a:t>
            </a:r>
            <a:r>
              <a:rPr sz="20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en</a:t>
            </a:r>
            <a:r>
              <a:rPr sz="20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Pantalla:</a:t>
            </a:r>
            <a:r>
              <a:rPr sz="20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ctx.putImageData</a:t>
            </a:r>
            <a:r>
              <a:rPr sz="18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(</a:t>
            </a:r>
            <a:r>
              <a:rPr sz="18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Imagen,</a:t>
            </a:r>
            <a:r>
              <a:rPr sz="18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x,</a:t>
            </a:r>
            <a:r>
              <a:rPr sz="18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y)</a:t>
            </a:r>
            <a:r>
              <a:rPr sz="18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50" dirty="0">
                <a:solidFill>
                  <a:srgbClr val="595959"/>
                </a:solidFill>
                <a:latin typeface="Arial"/>
                <a:cs typeface="Arial"/>
              </a:rPr>
              <a:t>;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6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Para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convertir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de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matriz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arreglo?</a:t>
            </a:r>
            <a:endParaRPr sz="1800">
              <a:latin typeface="Arial MT"/>
              <a:cs typeface="Arial MT"/>
            </a:endParaRPr>
          </a:p>
          <a:p>
            <a:pPr marL="2256790">
              <a:lnSpc>
                <a:spcPct val="100000"/>
              </a:lnSpc>
              <a:spcBef>
                <a:spcPts val="1920"/>
              </a:spcBef>
            </a:pPr>
            <a:r>
              <a:rPr sz="1400" b="1" i="1" dirty="0">
                <a:solidFill>
                  <a:srgbClr val="00B050"/>
                </a:solidFill>
                <a:latin typeface="Arial"/>
                <a:cs typeface="Arial"/>
              </a:rPr>
              <a:t>indice</a:t>
            </a:r>
            <a:r>
              <a:rPr sz="1400" b="1" i="1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rgbClr val="00B050"/>
                </a:solidFill>
                <a:latin typeface="Arial"/>
                <a:cs typeface="Arial"/>
              </a:rPr>
              <a:t>=</a:t>
            </a:r>
            <a:r>
              <a:rPr sz="1400" b="1" i="1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b="1" i="1" spc="-50" dirty="0">
                <a:solidFill>
                  <a:srgbClr val="00B050"/>
                </a:solidFill>
                <a:latin typeface="Arial"/>
                <a:cs typeface="Arial"/>
              </a:rPr>
              <a:t>…</a:t>
            </a:r>
            <a:endParaRPr sz="1400">
              <a:latin typeface="Arial"/>
              <a:cs typeface="Arial"/>
            </a:endParaRPr>
          </a:p>
          <a:p>
            <a:pPr marL="2256790">
              <a:lnSpc>
                <a:spcPct val="100000"/>
              </a:lnSpc>
              <a:spcBef>
                <a:spcPts val="465"/>
              </a:spcBef>
            </a:pPr>
            <a:r>
              <a:rPr sz="1400" b="1" i="1" dirty="0">
                <a:solidFill>
                  <a:srgbClr val="00B050"/>
                </a:solidFill>
                <a:latin typeface="Arial"/>
                <a:cs typeface="Arial"/>
              </a:rPr>
              <a:t>indice</a:t>
            </a:r>
            <a:r>
              <a:rPr sz="1400" b="1" i="1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rgbClr val="00B050"/>
                </a:solidFill>
                <a:latin typeface="Arial"/>
                <a:cs typeface="Arial"/>
              </a:rPr>
              <a:t>=</a:t>
            </a:r>
            <a:r>
              <a:rPr sz="1400" b="1" i="1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rgbClr val="00B050"/>
                </a:solidFill>
                <a:latin typeface="Arial"/>
                <a:cs typeface="Arial"/>
              </a:rPr>
              <a:t>(x</a:t>
            </a:r>
            <a:r>
              <a:rPr sz="1400" b="1" i="1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rgbClr val="00B050"/>
                </a:solidFill>
                <a:latin typeface="Arial"/>
                <a:cs typeface="Arial"/>
              </a:rPr>
              <a:t>+</a:t>
            </a:r>
            <a:r>
              <a:rPr sz="1400" b="1" i="1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rgbClr val="00B050"/>
                </a:solidFill>
                <a:latin typeface="Arial"/>
                <a:cs typeface="Arial"/>
              </a:rPr>
              <a:t>y</a:t>
            </a:r>
            <a:r>
              <a:rPr sz="1400" b="1" i="1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rgbClr val="00B050"/>
                </a:solidFill>
                <a:latin typeface="Arial"/>
                <a:cs typeface="Arial"/>
              </a:rPr>
              <a:t>*</a:t>
            </a:r>
            <a:r>
              <a:rPr sz="1400" b="1" i="1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rgbClr val="00B050"/>
                </a:solidFill>
                <a:latin typeface="Arial"/>
                <a:cs typeface="Arial"/>
              </a:rPr>
              <a:t>imageData.width)</a:t>
            </a:r>
            <a:r>
              <a:rPr sz="1400" b="1" i="1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rgbClr val="00B050"/>
                </a:solidFill>
                <a:latin typeface="Arial"/>
                <a:cs typeface="Arial"/>
              </a:rPr>
              <a:t>*</a:t>
            </a:r>
            <a:r>
              <a:rPr sz="1400" b="1" i="1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b="1" i="1" spc="-25" dirty="0">
                <a:solidFill>
                  <a:srgbClr val="00B050"/>
                </a:solidFill>
                <a:latin typeface="Arial"/>
                <a:cs typeface="Arial"/>
              </a:rPr>
              <a:t>4;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Crear</a:t>
            </a:r>
            <a:r>
              <a:rPr spc="-100" dirty="0"/>
              <a:t> </a:t>
            </a:r>
            <a:r>
              <a:rPr dirty="0"/>
              <a:t>imagen</a:t>
            </a:r>
            <a:r>
              <a:rPr spc="-100" dirty="0"/>
              <a:t> </a:t>
            </a:r>
            <a:r>
              <a:rPr dirty="0"/>
              <a:t>desde</a:t>
            </a:r>
            <a:r>
              <a:rPr spc="-100" dirty="0"/>
              <a:t> </a:t>
            </a:r>
            <a:r>
              <a:rPr spc="-20" dirty="0"/>
              <a:t>cero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815" y="3011869"/>
            <a:ext cx="5323300" cy="19290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0815" y="1017724"/>
            <a:ext cx="5323300" cy="18891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Cómo</a:t>
            </a:r>
            <a:r>
              <a:rPr spc="-85" dirty="0"/>
              <a:t> </a:t>
            </a:r>
            <a:r>
              <a:rPr dirty="0"/>
              <a:t>cargar</a:t>
            </a:r>
            <a:r>
              <a:rPr spc="-80" dirty="0"/>
              <a:t> </a:t>
            </a:r>
            <a:r>
              <a:rPr dirty="0"/>
              <a:t>una</a:t>
            </a:r>
            <a:r>
              <a:rPr spc="-80" dirty="0"/>
              <a:t> </a:t>
            </a:r>
            <a:r>
              <a:rPr spc="-10" dirty="0"/>
              <a:t>imagen?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69620"/>
            <a:ext cx="7462520" cy="142748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59"/>
              </a:spcBef>
              <a:buSzPct val="90000"/>
              <a:buChar char="●"/>
              <a:tabLst>
                <a:tab pos="379095" algn="l"/>
              </a:tabLst>
            </a:pP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La</a:t>
            </a:r>
            <a:r>
              <a:rPr sz="20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carga</a:t>
            </a:r>
            <a:r>
              <a:rPr sz="20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de</a:t>
            </a:r>
            <a:r>
              <a:rPr sz="20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imágenes</a:t>
            </a:r>
            <a:r>
              <a:rPr sz="20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es</a:t>
            </a:r>
            <a:r>
              <a:rPr sz="20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595959"/>
                </a:solidFill>
                <a:latin typeface="Arial"/>
                <a:cs typeface="Arial"/>
              </a:rPr>
              <a:t>asincrónica</a:t>
            </a:r>
            <a:endParaRPr sz="20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59"/>
              </a:spcBef>
              <a:buSzPct val="90000"/>
              <a:buChar char="●"/>
              <a:tabLst>
                <a:tab pos="379095" algn="l"/>
              </a:tabLst>
            </a:pP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El</a:t>
            </a:r>
            <a:r>
              <a:rPr sz="2000" spc="-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script</a:t>
            </a:r>
            <a:r>
              <a:rPr sz="20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se</a:t>
            </a:r>
            <a:r>
              <a:rPr sz="20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ejecuta</a:t>
            </a:r>
            <a:r>
              <a:rPr sz="20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Arial MT"/>
                <a:cs typeface="Arial MT"/>
              </a:rPr>
              <a:t>secuencialmente</a:t>
            </a:r>
            <a:r>
              <a:rPr sz="20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línea</a:t>
            </a:r>
            <a:r>
              <a:rPr sz="20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por</a:t>
            </a:r>
            <a:r>
              <a:rPr sz="20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Arial MT"/>
                <a:cs typeface="Arial MT"/>
              </a:rPr>
              <a:t>línea</a:t>
            </a:r>
            <a:endParaRPr sz="2000">
              <a:latin typeface="Arial MT"/>
              <a:cs typeface="Arial MT"/>
            </a:endParaRPr>
          </a:p>
          <a:p>
            <a:pPr marL="379095" marR="5080" indent="-367030">
              <a:lnSpc>
                <a:spcPct val="114999"/>
              </a:lnSpc>
              <a:buSzPct val="90000"/>
              <a:buChar char="●"/>
              <a:tabLst>
                <a:tab pos="379095" algn="l"/>
              </a:tabLst>
            </a:pP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El</a:t>
            </a:r>
            <a:r>
              <a:rPr sz="20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tiempo</a:t>
            </a:r>
            <a:r>
              <a:rPr sz="20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de</a:t>
            </a:r>
            <a:r>
              <a:rPr sz="20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demora</a:t>
            </a:r>
            <a:r>
              <a:rPr sz="20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depende</a:t>
            </a:r>
            <a:r>
              <a:rPr sz="20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del</a:t>
            </a:r>
            <a:r>
              <a:rPr sz="20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tamaño</a:t>
            </a:r>
            <a:r>
              <a:rPr sz="20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de</a:t>
            </a:r>
            <a:r>
              <a:rPr sz="20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la</a:t>
            </a:r>
            <a:r>
              <a:rPr sz="20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imagen</a:t>
            </a:r>
            <a:r>
              <a:rPr sz="20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y</a:t>
            </a:r>
            <a:r>
              <a:rPr sz="20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de</a:t>
            </a:r>
            <a:r>
              <a:rPr sz="20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Arial MT"/>
                <a:cs typeface="Arial MT"/>
              </a:rPr>
              <a:t>la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latencia</a:t>
            </a:r>
            <a:r>
              <a:rPr sz="2000" spc="-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del</a:t>
            </a:r>
            <a:r>
              <a:rPr sz="20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servidor</a:t>
            </a:r>
            <a:r>
              <a:rPr sz="20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que</a:t>
            </a:r>
            <a:r>
              <a:rPr sz="20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95959"/>
                </a:solidFill>
                <a:latin typeface="Arial MT"/>
                <a:cs typeface="Arial MT"/>
              </a:rPr>
              <a:t>la</a:t>
            </a:r>
            <a:r>
              <a:rPr sz="20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Arial MT"/>
                <a:cs typeface="Arial MT"/>
              </a:rPr>
              <a:t>tiene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4856" y="2967159"/>
            <a:ext cx="3867255" cy="142012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266127" y="3524668"/>
            <a:ext cx="228790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195" dirty="0">
                <a:solidFill>
                  <a:srgbClr val="FF0000"/>
                </a:solidFill>
                <a:latin typeface="Arial"/>
                <a:cs typeface="Arial"/>
              </a:rPr>
              <a:t>□</a:t>
            </a:r>
            <a:r>
              <a:rPr sz="14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Puede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que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</a:t>
            </a:r>
            <a:r>
              <a:rPr sz="1400" spc="-10" dirty="0">
                <a:latin typeface="Arial MT"/>
                <a:cs typeface="Arial MT"/>
              </a:rPr>
              <a:t> imagen</a:t>
            </a:r>
            <a:endParaRPr sz="14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400" dirty="0">
                <a:latin typeface="Arial MT"/>
                <a:cs typeface="Arial MT"/>
              </a:rPr>
              <a:t>no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esté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cargada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en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memoria </a:t>
            </a:r>
            <a:r>
              <a:rPr sz="1400" dirty="0">
                <a:latin typeface="Arial MT"/>
                <a:cs typeface="Arial MT"/>
              </a:rPr>
              <a:t>al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momento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dibujarla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7600" y="1988218"/>
            <a:ext cx="3669631" cy="289961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75249" y="1175208"/>
            <a:ext cx="4875530" cy="65659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¿Cómo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accedo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cada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pixel?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¿Cómo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obtengo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las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componentes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R,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G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y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B?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Acceder</a:t>
            </a:r>
            <a:r>
              <a:rPr spc="-60" dirty="0"/>
              <a:t> </a:t>
            </a:r>
            <a:r>
              <a:rPr dirty="0"/>
              <a:t>a</a:t>
            </a:r>
            <a:r>
              <a:rPr spc="-55" dirty="0"/>
              <a:t> </a:t>
            </a:r>
            <a:r>
              <a:rPr dirty="0"/>
              <a:t>los</a:t>
            </a:r>
            <a:r>
              <a:rPr spc="-55" dirty="0"/>
              <a:t> </a:t>
            </a:r>
            <a:r>
              <a:rPr spc="-10" dirty="0"/>
              <a:t>pixeles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7425" y="503825"/>
            <a:ext cx="9683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Filtros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9249" y="1057808"/>
            <a:ext cx="6437630" cy="128778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663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66395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Modifica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el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valor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de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un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pixel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dado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una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ecuación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matemática</a:t>
            </a:r>
            <a:endParaRPr sz="1800">
              <a:latin typeface="Arial MT"/>
              <a:cs typeface="Arial MT"/>
            </a:endParaRPr>
          </a:p>
          <a:p>
            <a:pPr marL="3663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66395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Este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valor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puede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ser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simplemente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un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coeficiente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sz="1800">
              <a:latin typeface="Arial MT"/>
              <a:cs typeface="Arial MT"/>
            </a:endParaRPr>
          </a:p>
          <a:p>
            <a:pPr marL="146685" algn="ctr">
              <a:lnSpc>
                <a:spcPct val="100000"/>
              </a:lnSpc>
            </a:pPr>
            <a:r>
              <a:rPr sz="1800" i="1" dirty="0">
                <a:solidFill>
                  <a:srgbClr val="595959"/>
                </a:solidFill>
                <a:latin typeface="Arial"/>
                <a:cs typeface="Arial"/>
              </a:rPr>
              <a:t>Gris</a:t>
            </a:r>
            <a:r>
              <a:rPr sz="1800" i="1" spc="4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1800" i="1" spc="484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595959"/>
                </a:solidFill>
                <a:latin typeface="Arial"/>
                <a:cs typeface="Arial"/>
              </a:rPr>
              <a:t>(R</a:t>
            </a:r>
            <a:r>
              <a:rPr sz="1800" i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595959"/>
                </a:solidFill>
                <a:latin typeface="Arial"/>
                <a:cs typeface="Arial"/>
              </a:rPr>
              <a:t>+</a:t>
            </a:r>
            <a:r>
              <a:rPr sz="1800" i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595959"/>
                </a:solidFill>
                <a:latin typeface="Arial"/>
                <a:cs typeface="Arial"/>
              </a:rPr>
              <a:t>G</a:t>
            </a:r>
            <a:r>
              <a:rPr sz="1800" i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595959"/>
                </a:solidFill>
                <a:latin typeface="Arial"/>
                <a:cs typeface="Arial"/>
              </a:rPr>
              <a:t>+</a:t>
            </a:r>
            <a:r>
              <a:rPr sz="1800" i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595959"/>
                </a:solidFill>
                <a:latin typeface="Arial"/>
                <a:cs typeface="Arial"/>
              </a:rPr>
              <a:t>B)</a:t>
            </a:r>
            <a:r>
              <a:rPr sz="1800" i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595959"/>
                </a:solidFill>
                <a:latin typeface="Arial"/>
                <a:cs typeface="Arial"/>
              </a:rPr>
              <a:t>/</a:t>
            </a:r>
            <a:r>
              <a:rPr sz="1800" i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i="1" spc="-50" dirty="0">
                <a:solidFill>
                  <a:srgbClr val="595959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69801" y="3819457"/>
            <a:ext cx="1300229" cy="131451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4443" y="2734389"/>
            <a:ext cx="2135980" cy="9715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23298" y="2734627"/>
            <a:ext cx="2135980" cy="9715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72151" y="2734389"/>
            <a:ext cx="2135980" cy="971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Escala</a:t>
            </a:r>
            <a:r>
              <a:rPr spc="-80" dirty="0"/>
              <a:t> </a:t>
            </a:r>
            <a:r>
              <a:rPr dirty="0"/>
              <a:t>de</a:t>
            </a:r>
            <a:r>
              <a:rPr spc="-80" dirty="0"/>
              <a:t> </a:t>
            </a:r>
            <a:r>
              <a:rPr spc="-10" dirty="0"/>
              <a:t>Grises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6549" y="1098956"/>
            <a:ext cx="1407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G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595959"/>
                </a:solidFill>
                <a:latin typeface="Arial MT"/>
                <a:cs typeface="Arial MT"/>
              </a:rPr>
              <a:t>B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1529" y="1624620"/>
            <a:ext cx="5244183" cy="34420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30351"/>
            <a:ext cx="9740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BLUR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16774" y="278507"/>
            <a:ext cx="333882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Promedio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de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la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Matriz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vecina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0467" y="744250"/>
            <a:ext cx="8922385" cy="4341495"/>
            <a:chOff x="80467" y="744250"/>
            <a:chExt cx="8922385" cy="43414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467" y="744250"/>
              <a:ext cx="5224982" cy="241934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87187" y="2666375"/>
              <a:ext cx="6315074" cy="241934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30351"/>
            <a:ext cx="23171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Filtro</a:t>
            </a:r>
            <a:r>
              <a:rPr spc="-70" dirty="0"/>
              <a:t> </a:t>
            </a:r>
            <a:r>
              <a:rPr dirty="0"/>
              <a:t>de</a:t>
            </a:r>
            <a:r>
              <a:rPr spc="-65" dirty="0"/>
              <a:t> </a:t>
            </a:r>
            <a:r>
              <a:rPr spc="-20" dirty="0"/>
              <a:t>Sobel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836882"/>
            <a:ext cx="6856095" cy="160274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Se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utiliza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una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Matriz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(Gx)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para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multiplicar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con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la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imagen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original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El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resultado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es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1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numero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que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será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el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valor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del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pixel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original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Utilizado</a:t>
            </a:r>
            <a:r>
              <a:rPr sz="1800" spc="-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principalmente</a:t>
            </a:r>
            <a:r>
              <a:rPr sz="18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para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detección</a:t>
            </a:r>
            <a:r>
              <a:rPr sz="18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de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bordes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sz="1800">
              <a:latin typeface="Arial MT"/>
              <a:cs typeface="Arial MT"/>
            </a:endParaRPr>
          </a:p>
          <a:p>
            <a:pPr marL="1925320">
              <a:lnSpc>
                <a:spcPct val="100000"/>
              </a:lnSpc>
            </a:pPr>
            <a:r>
              <a:rPr sz="18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https://es.wikipedia.org/wiki/Operador_Sobel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9875" y="2488199"/>
            <a:ext cx="5927124" cy="26054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30351"/>
            <a:ext cx="23171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Filtro</a:t>
            </a:r>
            <a:r>
              <a:rPr spc="-70" dirty="0"/>
              <a:t> </a:t>
            </a:r>
            <a:r>
              <a:rPr dirty="0"/>
              <a:t>de</a:t>
            </a:r>
            <a:r>
              <a:rPr spc="-65" dirty="0"/>
              <a:t> </a:t>
            </a:r>
            <a:r>
              <a:rPr spc="-20" dirty="0"/>
              <a:t>Sobel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4349" y="952608"/>
            <a:ext cx="4177665" cy="97218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Cálculo</a:t>
            </a:r>
            <a:r>
              <a:rPr sz="1800" spc="-5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utilizando</a:t>
            </a:r>
            <a:r>
              <a:rPr sz="18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Gx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Recuerden</a:t>
            </a:r>
            <a:r>
              <a:rPr sz="18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calcularlo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para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cada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color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Y</a:t>
            </a:r>
            <a:r>
              <a:rPr sz="1800" spc="-5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con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los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extremos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de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la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Matriz?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99994" y="2321792"/>
            <a:ext cx="5896156" cy="277963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30351"/>
            <a:ext cx="28898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Saturación</a:t>
            </a:r>
            <a:r>
              <a:rPr spc="-95" dirty="0"/>
              <a:t> </a:t>
            </a:r>
            <a:r>
              <a:rPr dirty="0"/>
              <a:t>y</a:t>
            </a:r>
            <a:r>
              <a:rPr spc="-95" dirty="0"/>
              <a:t> </a:t>
            </a:r>
            <a:r>
              <a:rPr spc="-10" dirty="0"/>
              <a:t>Brillo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dirty="0"/>
              <a:t>Si</a:t>
            </a:r>
            <a:r>
              <a:rPr spc="-15" dirty="0"/>
              <a:t> </a:t>
            </a:r>
            <a:r>
              <a:rPr dirty="0"/>
              <a:t>tenemos</a:t>
            </a:r>
            <a:r>
              <a:rPr spc="-10" dirty="0"/>
              <a:t> </a:t>
            </a:r>
            <a:r>
              <a:rPr dirty="0"/>
              <a:t>imagen</a:t>
            </a:r>
            <a:r>
              <a:rPr spc="-10" dirty="0"/>
              <a:t> </a:t>
            </a:r>
            <a:r>
              <a:rPr dirty="0"/>
              <a:t>en</a:t>
            </a:r>
            <a:r>
              <a:rPr spc="-10" dirty="0"/>
              <a:t> </a:t>
            </a:r>
            <a:r>
              <a:rPr dirty="0"/>
              <a:t>RGB.</a:t>
            </a:r>
            <a:r>
              <a:rPr spc="-10" dirty="0"/>
              <a:t> </a:t>
            </a:r>
            <a:r>
              <a:rPr dirty="0"/>
              <a:t>Entonces</a:t>
            </a:r>
            <a:r>
              <a:rPr spc="-10" dirty="0"/>
              <a:t> </a:t>
            </a:r>
            <a:r>
              <a:rPr dirty="0"/>
              <a:t>convertir</a:t>
            </a:r>
            <a:r>
              <a:rPr spc="-15" dirty="0"/>
              <a:t> </a:t>
            </a:r>
            <a:r>
              <a:rPr dirty="0"/>
              <a:t>el</a:t>
            </a:r>
            <a:r>
              <a:rPr spc="-10" dirty="0"/>
              <a:t> </a:t>
            </a:r>
            <a:r>
              <a:rPr dirty="0"/>
              <a:t>color</a:t>
            </a:r>
            <a:r>
              <a:rPr spc="-1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HSB,</a:t>
            </a:r>
            <a:r>
              <a:rPr spc="-10" dirty="0"/>
              <a:t> </a:t>
            </a:r>
            <a:r>
              <a:rPr dirty="0"/>
              <a:t>hacer</a:t>
            </a:r>
            <a:r>
              <a:rPr spc="-10" dirty="0"/>
              <a:t> </a:t>
            </a:r>
            <a:r>
              <a:rPr spc="-25" dirty="0"/>
              <a:t>el </a:t>
            </a:r>
            <a:r>
              <a:rPr dirty="0"/>
              <a:t>calculo</a:t>
            </a:r>
            <a:r>
              <a:rPr spc="-30" dirty="0"/>
              <a:t> </a:t>
            </a:r>
            <a:r>
              <a:rPr dirty="0"/>
              <a:t>y</a:t>
            </a:r>
            <a:r>
              <a:rPr spc="-25" dirty="0"/>
              <a:t> </a:t>
            </a:r>
            <a:r>
              <a:rPr dirty="0"/>
              <a:t>luego</a:t>
            </a:r>
            <a:r>
              <a:rPr spc="-25" dirty="0"/>
              <a:t> </a:t>
            </a:r>
            <a:r>
              <a:rPr dirty="0"/>
              <a:t>nuevamente</a:t>
            </a:r>
            <a:r>
              <a:rPr spc="-25" dirty="0"/>
              <a:t> </a:t>
            </a:r>
            <a:r>
              <a:rPr dirty="0"/>
              <a:t>pasarlo</a:t>
            </a:r>
            <a:r>
              <a:rPr spc="-25" dirty="0"/>
              <a:t> </a:t>
            </a:r>
            <a:r>
              <a:rPr dirty="0"/>
              <a:t>a</a:t>
            </a:r>
            <a:r>
              <a:rPr spc="-25" dirty="0"/>
              <a:t> RGB</a:t>
            </a:r>
          </a:p>
          <a:p>
            <a:pPr marL="878840" lvl="1" indent="-376555">
              <a:lnSpc>
                <a:spcPct val="100000"/>
              </a:lnSpc>
              <a:spcBef>
                <a:spcPts val="1425"/>
              </a:spcBef>
              <a:buAutoNum type="arabicPeriod"/>
              <a:tabLst>
                <a:tab pos="878840" algn="l"/>
              </a:tabLst>
            </a:pPr>
            <a:r>
              <a:rPr sz="1400" dirty="0">
                <a:solidFill>
                  <a:srgbClr val="666666"/>
                </a:solidFill>
                <a:latin typeface="Arial MT"/>
                <a:cs typeface="Arial MT"/>
              </a:rPr>
              <a:t>RGB</a:t>
            </a:r>
            <a:r>
              <a:rPr sz="1400" spc="-3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666666"/>
                </a:solidFill>
                <a:latin typeface="Arial MT"/>
                <a:cs typeface="Arial MT"/>
              </a:rPr>
              <a:t>to</a:t>
            </a:r>
            <a:r>
              <a:rPr sz="1400" spc="-3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666666"/>
                </a:solidFill>
                <a:latin typeface="Arial MT"/>
                <a:cs typeface="Arial MT"/>
              </a:rPr>
              <a:t>HSB</a:t>
            </a:r>
            <a:endParaRPr sz="1400">
              <a:latin typeface="Arial MT"/>
              <a:cs typeface="Arial MT"/>
            </a:endParaRPr>
          </a:p>
          <a:p>
            <a:pPr marL="878840" lvl="1" indent="-376555">
              <a:lnSpc>
                <a:spcPct val="100000"/>
              </a:lnSpc>
              <a:buAutoNum type="arabicPeriod"/>
              <a:tabLst>
                <a:tab pos="878840" algn="l"/>
              </a:tabLst>
            </a:pPr>
            <a:r>
              <a:rPr sz="1400" dirty="0">
                <a:solidFill>
                  <a:srgbClr val="666666"/>
                </a:solidFill>
                <a:latin typeface="Arial MT"/>
                <a:cs typeface="Arial MT"/>
              </a:rPr>
              <a:t>Calcular</a:t>
            </a:r>
            <a:r>
              <a:rPr sz="1400" spc="-1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666666"/>
                </a:solidFill>
                <a:latin typeface="Arial MT"/>
                <a:cs typeface="Arial MT"/>
              </a:rPr>
              <a:t>nuevo</a:t>
            </a:r>
            <a:r>
              <a:rPr sz="1400" spc="-1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666666"/>
                </a:solidFill>
                <a:latin typeface="Arial MT"/>
                <a:cs typeface="Arial MT"/>
              </a:rPr>
              <a:t>valor</a:t>
            </a:r>
            <a:endParaRPr sz="1400">
              <a:latin typeface="Arial MT"/>
              <a:cs typeface="Arial MT"/>
            </a:endParaRPr>
          </a:p>
          <a:p>
            <a:pPr marL="878840" lvl="1" indent="-376555">
              <a:lnSpc>
                <a:spcPct val="100000"/>
              </a:lnSpc>
              <a:buAutoNum type="arabicPeriod"/>
              <a:tabLst>
                <a:tab pos="878840" algn="l"/>
              </a:tabLst>
            </a:pPr>
            <a:r>
              <a:rPr sz="1400" dirty="0">
                <a:solidFill>
                  <a:srgbClr val="666666"/>
                </a:solidFill>
                <a:latin typeface="Arial MT"/>
                <a:cs typeface="Arial MT"/>
              </a:rPr>
              <a:t>HSB</a:t>
            </a:r>
            <a:r>
              <a:rPr sz="1400" spc="-3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666666"/>
                </a:solidFill>
                <a:latin typeface="Arial MT"/>
                <a:cs typeface="Arial MT"/>
              </a:rPr>
              <a:t>to</a:t>
            </a:r>
            <a:r>
              <a:rPr sz="1400" spc="-25" dirty="0">
                <a:solidFill>
                  <a:srgbClr val="666666"/>
                </a:solidFill>
                <a:latin typeface="Arial MT"/>
                <a:cs typeface="Arial MT"/>
              </a:rPr>
              <a:t> RGB</a:t>
            </a:r>
            <a:endParaRPr sz="1400">
              <a:latin typeface="Arial MT"/>
              <a:cs typeface="Arial MT"/>
            </a:endParaRPr>
          </a:p>
          <a:p>
            <a:pPr marL="878840" lvl="1" indent="-376555">
              <a:lnSpc>
                <a:spcPct val="100000"/>
              </a:lnSpc>
              <a:buAutoNum type="arabicPeriod"/>
              <a:tabLst>
                <a:tab pos="878840" algn="l"/>
              </a:tabLst>
            </a:pPr>
            <a:r>
              <a:rPr sz="1400" dirty="0">
                <a:solidFill>
                  <a:srgbClr val="666666"/>
                </a:solidFill>
                <a:latin typeface="Arial MT"/>
                <a:cs typeface="Arial MT"/>
              </a:rPr>
              <a:t>Guardar</a:t>
            </a:r>
            <a:r>
              <a:rPr sz="1400" spc="-2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666666"/>
                </a:solidFill>
                <a:latin typeface="Arial MT"/>
                <a:cs typeface="Arial MT"/>
              </a:rPr>
              <a:t>nuevo</a:t>
            </a:r>
            <a:r>
              <a:rPr sz="1400" spc="-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666666"/>
                </a:solidFill>
                <a:latin typeface="Arial MT"/>
                <a:cs typeface="Arial MT"/>
              </a:rPr>
              <a:t>valor</a:t>
            </a:r>
            <a:r>
              <a:rPr sz="1400" spc="-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666666"/>
                </a:solidFill>
                <a:latin typeface="Arial MT"/>
                <a:cs typeface="Arial MT"/>
              </a:rPr>
              <a:t>en</a:t>
            </a:r>
            <a:r>
              <a:rPr sz="1400" spc="-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666666"/>
                </a:solidFill>
                <a:latin typeface="Arial MT"/>
                <a:cs typeface="Arial MT"/>
              </a:rPr>
              <a:t>la</a:t>
            </a:r>
            <a:r>
              <a:rPr sz="1400" spc="-10" dirty="0">
                <a:solidFill>
                  <a:srgbClr val="666666"/>
                </a:solidFill>
                <a:latin typeface="Arial MT"/>
                <a:cs typeface="Arial MT"/>
              </a:rPr>
              <a:t> imagen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30124" y="2058774"/>
            <a:ext cx="4658149" cy="29701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84725" y="4694663"/>
            <a:ext cx="34378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https://en.wikipedia.org/wiki/HSL_and_HSV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7A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</TotalTime>
  <Words>360</Words>
  <Application>Microsoft Office PowerPoint</Application>
  <PresentationFormat>Presentación en pantalla (16:9)</PresentationFormat>
  <Paragraphs>51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Arial MT</vt:lpstr>
      <vt:lpstr>Roboto</vt:lpstr>
      <vt:lpstr>Roboto Lt</vt:lpstr>
      <vt:lpstr>Office Theme</vt:lpstr>
      <vt:lpstr>FILTROS</vt:lpstr>
      <vt:lpstr>Imágenes</vt:lpstr>
      <vt:lpstr>Presentación de PowerPoint</vt:lpstr>
      <vt:lpstr>Representar imágenes</vt:lpstr>
      <vt:lpstr>Crear imagen desde cero</vt:lpstr>
      <vt:lpstr>Cómo cargar una imagen?</vt:lpstr>
      <vt:lpstr>Acceder a los pixeles</vt:lpstr>
      <vt:lpstr>Filtros</vt:lpstr>
      <vt:lpstr>Escala de Grises</vt:lpstr>
      <vt:lpstr>BLUR</vt:lpstr>
      <vt:lpstr>Filtro de Sobel</vt:lpstr>
      <vt:lpstr>Filtro de Sobel</vt:lpstr>
      <vt:lpstr>Saturación y Brillo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Clase1-FILTROS.pptx</dc:title>
  <cp:lastModifiedBy>facu</cp:lastModifiedBy>
  <cp:revision>1</cp:revision>
  <dcterms:created xsi:type="dcterms:W3CDTF">2025-08-07T14:16:02Z</dcterms:created>
  <dcterms:modified xsi:type="dcterms:W3CDTF">2026-03-31T14:40:42Z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2025-08-07T00:00:00Z</vt:filetime>
  </property>
  <property fmtid="{D5CDD505-2E9C-101B-9397-08002B2CF9AE}" pid="3" name="Creator">
    <vt:lpwstr>Google</vt:lpwstr>
  </property>
  <property fmtid="{D5CDD505-2E9C-101B-9397-08002B2CF9AE}" pid="4" name="LastSaved">
    <vt:filetime>2025-08-07T00:00:00Z</vt:filetime>
  </property>
</Properties>
</file>