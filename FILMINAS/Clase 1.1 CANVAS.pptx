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Light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  <p15:guide id="3" orient="horz" pos="3240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gR7EKstwYf2sapj4coOLMiDDAi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050" y="114"/>
      </p:cViewPr>
      <p:guideLst>
        <p:guide orient="horz"/>
        <p:guide/>
        <p:guide orient="horz"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customschemas.google.com/relationships/presentationmetadata" Target="meta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3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s.wikipedia.org/wiki/Canvas_(HTML)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HTML/Element/canva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eveloper.mozilla.org/es/docs/Web/API/HTMLCanvasElement/getContext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eveloper.mozilla.org/es/docs/Web/API/CanvasRenderingContext2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dSXuzrq88xzLoyGqnXm0WkmXpzP-eub8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O1AElrVcDWAUEHbjuDFU2X-p3alSsQpc?usp=shar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ImageDat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dSXuzrq88xzLoyGqnXm0WkmXpzP-eub8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kvfSCt6oYnRg2bSDOoScKFUPg76rC1e9?usp=shar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dSXuzrq88xzLoyGqnXm0WkmXpzP-eub8?usp=shar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kvfSCt6oYnRg2bSDOoScKFUPg76rC1e9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503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14650" y="1836075"/>
            <a:ext cx="9144000" cy="9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6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&lt;/canvas&gt;</a:t>
            </a:r>
            <a:endParaRPr sz="6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26350" y="40650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UniCen / FCE / TUDAI </a:t>
            </a:r>
            <a:endParaRPr sz="1800" b="1" i="0" u="none" strike="noStrike" cap="none" dirty="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 dirty="0"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rPr>
              <a:t>INTERFACES DE USUARIO E INTERACCIÓN | TUDAI </a:t>
            </a:r>
            <a:endParaRPr sz="1400" b="0" i="0" u="none" strike="noStrike" cap="none" dirty="0">
              <a:solidFill>
                <a:srgbClr val="CCCCCC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CCCCCC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CCCCCC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-75" y="55100"/>
            <a:ext cx="91440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5000" b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¿Qué es canvas?</a:t>
            </a:r>
            <a:endParaRPr sz="50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5" y="1258200"/>
            <a:ext cx="91440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1" u="none" strike="noStrike" cap="none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Es el elemento donde se dibuja en HTML5</a:t>
            </a:r>
            <a:endParaRPr sz="2500" b="0" i="1" u="none" strike="noStrike" cap="none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1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3302" y="2148100"/>
            <a:ext cx="2409000" cy="24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3392650" y="2148100"/>
            <a:ext cx="50814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Char char="●"/>
            </a:pPr>
            <a:r>
              <a:rPr lang="es" sz="1600" b="0" i="0" u="none" strike="noStrike" cap="none" dirty="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Permite la generación de gráficos dinámicamente por medio del scripting. </a:t>
            </a:r>
            <a:endParaRPr sz="1600" b="0" i="0" u="none" strike="noStrike" cap="none" dirty="0">
              <a:solidFill>
                <a:srgbClr val="66666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66666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Char char="●"/>
            </a:pPr>
            <a:r>
              <a:rPr lang="es" sz="1600" b="0" i="0" u="none" strike="noStrike" cap="none" dirty="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Entre otras cosas, permite la renderización interpretada dinámica de gráficos 2D y mapas de bits, así como animaciones con estos gráficos.</a:t>
            </a:r>
            <a:endParaRPr sz="1600" b="0" i="0" u="none" strike="noStrike" cap="none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-75" y="4785700"/>
            <a:ext cx="9144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https://es.wikipedia.org/wiki/Canvas_(HTML)</a:t>
            </a:r>
            <a:endParaRPr sz="1200" b="0" i="0" u="none" strike="noStrike" cap="none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-75" y="-21100"/>
            <a:ext cx="91440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 b="1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CanvasRenderingContext2D</a:t>
            </a:r>
            <a:endParaRPr sz="35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503300" y="798215"/>
            <a:ext cx="65667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s" sz="1700" b="0" i="1" u="none" strike="noStrike" cap="none" dirty="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Interfaz (API) que proporciona el contexto de renderizado 2D para la superficie de dibujo de un elemento</a:t>
            </a:r>
            <a:r>
              <a:rPr lang="es" sz="1700" b="0" i="1" u="none" strike="noStrike" cap="none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700" b="0" i="1" u="none" strike="noStrike" cap="none" dirty="0">
                <a:solidFill>
                  <a:srgbClr val="66666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&lt;canvas&gt;</a:t>
            </a:r>
            <a:r>
              <a:rPr lang="es" sz="1700" b="0" i="0" u="none" strike="noStrike" cap="none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 b="0" i="0" u="none" strike="noStrike" cap="none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5" y="2899317"/>
            <a:ext cx="9144000" cy="2244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1503300" y="1593695"/>
            <a:ext cx="7343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s" sz="1700" b="0" i="0" u="none" strike="noStrike" cap="none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Para obtener un objeto de esta interfaz, llama a </a:t>
            </a:r>
            <a:r>
              <a:rPr lang="es" sz="1700" b="1" i="1" u="none" strike="noStrike" cap="none" dirty="0">
                <a:solidFill>
                  <a:srgbClr val="66666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getContext()</a:t>
            </a:r>
            <a:r>
              <a:rPr lang="es" sz="1700" b="1" i="1" u="none" strike="noStrike" cap="none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700" b="0" i="0" u="none" strike="noStrike" cap="none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en un &lt;canvas&gt;, proporcionando "2d" como argumento</a:t>
            </a:r>
            <a:endParaRPr sz="1700" b="0" i="0" u="none" strike="noStrike" cap="none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s" sz="17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let canvas = /** @type { HTMLcanvasElement} */</a:t>
            </a:r>
            <a:endParaRPr sz="17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374475" y="161175"/>
            <a:ext cx="9144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500" b="1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CanvasRenderingContext2D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76" y="684975"/>
            <a:ext cx="2042800" cy="396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700" y="1031228"/>
            <a:ext cx="2042800" cy="327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87425" y="761175"/>
            <a:ext cx="2103715" cy="3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1140" y="1031228"/>
            <a:ext cx="2194342" cy="3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-50" y="4781025"/>
            <a:ext cx="9144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https://developer.mozilla.org/es/docs/Web/API/CanvasRenderingContext2D</a:t>
            </a:r>
            <a:endParaRPr sz="1200" b="0" i="0" u="none" strike="noStrike" cap="none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0" y="462650"/>
            <a:ext cx="88323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0" b="1">
              <a:solidFill>
                <a:srgbClr val="66666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-75" y="-21100"/>
            <a:ext cx="9144000" cy="10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 b="1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Ejemplo de canvas</a:t>
            </a:r>
            <a:endParaRPr sz="35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" y="1064375"/>
            <a:ext cx="9143999" cy="3014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9450" y="1380324"/>
            <a:ext cx="2382850" cy="23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/>
        </p:nvSpPr>
        <p:spPr>
          <a:xfrm>
            <a:off x="454100" y="402400"/>
            <a:ext cx="80094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800" b="1" i="0" u="none" strike="noStrike" cap="none">
                <a:solidFill>
                  <a:srgbClr val="C27BA0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</a:t>
            </a:r>
            <a:r>
              <a:rPr lang="es" sz="3800" b="1" i="0" u="none" strike="noStrike" cap="none">
                <a:solidFill>
                  <a:schemeClr val="accent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" sz="3800" b="1" i="0" u="none" strike="noStrike" cap="none">
                <a:solidFill>
                  <a:srgbClr val="FFD96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 </a:t>
            </a:r>
            <a:r>
              <a:rPr lang="es" sz="3800" b="1" i="0" u="none" strike="noStrike" cap="none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</a:t>
            </a:r>
            <a:r>
              <a:rPr lang="es" sz="3800" b="1" i="0" u="none" strike="noStrike" cap="none">
                <a:solidFill>
                  <a:srgbClr val="93C47D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“punto extra”</a:t>
            </a:r>
            <a:r>
              <a:rPr lang="es" sz="3800" b="1" i="0" u="none" strike="noStrike" cap="none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;</a:t>
            </a:r>
            <a:endParaRPr sz="38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454100" y="1680025"/>
            <a:ext cx="81933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/* </a:t>
            </a:r>
            <a:endParaRPr sz="2000" b="0" i="0" u="none" strike="noStrike" cap="none" dirty="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Roboto"/>
              <a:buChar char="●"/>
            </a:pPr>
            <a:r>
              <a:rPr lang="es" sz="19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Investigar sobre métodos y propiedades de la API </a:t>
            </a:r>
            <a:r>
              <a:rPr lang="es" sz="1900" b="0" i="1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CanvasRenderingContext2D</a:t>
            </a:r>
            <a:r>
              <a:rPr lang="es" sz="19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900" b="0" i="0" u="none" strike="noStrike" cap="none" dirty="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Roboto"/>
              <a:buChar char="●"/>
            </a:pPr>
            <a:r>
              <a:rPr lang="es" sz="19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Generar gráficos en pantalla implementando dicha interfaz.</a:t>
            </a:r>
            <a:endParaRPr sz="1900" b="0" i="0" u="none" strike="noStrike" cap="none" dirty="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Roboto"/>
              <a:buChar char="●"/>
            </a:pPr>
            <a:r>
              <a:rPr lang="es" sz="19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Graficar en canvas un muñeco de nieve utilizando formas y color o buscando otras alternativas.</a:t>
            </a:r>
            <a:endParaRPr sz="1900" b="0" i="0" u="none" strike="noStrike" cap="none" dirty="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Duración aproximada 40 minutos.</a:t>
            </a:r>
            <a:endParaRPr sz="1500" b="0" i="0" u="none" strike="noStrike" cap="none" dirty="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*/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>
            <a:hlinkClick r:id="rId4"/>
          </p:cNvPr>
          <p:cNvSpPr txBox="1"/>
          <p:nvPr/>
        </p:nvSpPr>
        <p:spPr>
          <a:xfrm>
            <a:off x="3405600" y="4551675"/>
            <a:ext cx="2332800" cy="352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COMENZAR DESAFÍO</a:t>
            </a:r>
            <a:endParaRPr sz="14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454100" y="910525"/>
            <a:ext cx="7428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student.</a:t>
            </a:r>
            <a:r>
              <a:rPr lang="es" sz="3800" b="1" i="0" u="none" strike="noStrike" cap="none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practice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slides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3800" b="1" i="0" u="none" strike="noStrike" cap="none">
                <a:solidFill>
                  <a:srgbClr val="93C47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theory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" sz="3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503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/>
        </p:nvSpPr>
        <p:spPr>
          <a:xfrm>
            <a:off x="14650" y="3227450"/>
            <a:ext cx="9144000" cy="9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6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ImageData</a:t>
            </a:r>
            <a:endParaRPr sz="6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4900" y="837400"/>
            <a:ext cx="3074200" cy="23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-75" y="55100"/>
            <a:ext cx="91440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5000" b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¿Qué es ImageData?</a:t>
            </a:r>
            <a:endParaRPr sz="50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" y="3525175"/>
            <a:ext cx="9144000" cy="171095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605425" y="1258200"/>
            <a:ext cx="83880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Roboto"/>
              <a:buChar char="●"/>
            </a:pPr>
            <a:r>
              <a:rPr lang="es" sz="2500" b="0" i="0" u="none" strike="noStrike" cap="none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 una interfaz de HTML5 representa los datos </a:t>
            </a:r>
            <a:endParaRPr sz="2500" b="0" i="0" u="none" strike="noStrike" cap="none">
              <a:solidFill>
                <a:srgbClr val="66666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 píxeles subyacentes de un área de un </a:t>
            </a:r>
            <a:r>
              <a:rPr lang="es" sz="25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r>
              <a:rPr lang="es" sz="2500" b="0" i="0" u="none" strike="noStrike" cap="none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2500" b="1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605425" y="2179200"/>
            <a:ext cx="7343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Roboto"/>
              <a:buChar char="●"/>
            </a:pPr>
            <a:r>
              <a:rPr lang="es" sz="25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 crea utilizando el constructor </a:t>
            </a:r>
            <a:r>
              <a:rPr lang="es" sz="2500" b="1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ImageData()</a:t>
            </a:r>
            <a:endParaRPr sz="2500" b="1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5100" y="2689900"/>
            <a:ext cx="2017574" cy="15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-75" y="-21100"/>
            <a:ext cx="91440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 b="1">
                <a:solidFill>
                  <a:srgbClr val="66666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Imagen Digital</a:t>
            </a:r>
            <a:endParaRPr sz="35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4813700" y="1208300"/>
            <a:ext cx="38013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Char char="●"/>
            </a:pPr>
            <a:r>
              <a:rPr lang="es" sz="1600" b="0" i="1" u="none" strike="noStrike" cap="none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Una imagen Digital es una matriz 2D (ancho x alto) de pixels.</a:t>
            </a:r>
            <a:endParaRPr sz="1600" b="0" i="1" u="none" strike="noStrike" cap="none">
              <a:solidFill>
                <a:srgbClr val="66666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●"/>
            </a:pPr>
            <a:r>
              <a:rPr lang="es" sz="1600" b="0" i="1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 pixel de color se representa </a:t>
            </a:r>
            <a:endParaRPr sz="1600" b="0" i="1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1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en el modelo RGB con 4 bytes.</a:t>
            </a:r>
            <a:endParaRPr sz="1600" b="0" i="1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675" y="926299"/>
            <a:ext cx="4419600" cy="393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6837" y="3439466"/>
            <a:ext cx="3355026" cy="1417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605425" y="3759625"/>
            <a:ext cx="6727200" cy="14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500"/>
              <a:buFont typeface="Roboto"/>
              <a:buChar char="●"/>
            </a:pPr>
            <a:r>
              <a:rPr lang="es" sz="2500" b="1" i="1" u="none" strike="noStrike" cap="none">
                <a:solidFill>
                  <a:srgbClr val="6FA8DC"/>
                </a:solidFill>
                <a:latin typeface="Roboto"/>
                <a:ea typeface="Roboto"/>
                <a:cs typeface="Roboto"/>
                <a:sym typeface="Roboto"/>
              </a:rPr>
              <a:t>putImageData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imageData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 x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 y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 ;</a:t>
            </a:r>
            <a:endParaRPr sz="2500" b="1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/* 	Es el método responsable de dibujar la información de píxeles en el lienzo. Si se proporciona un rectángulo solo se pintan los píxeles de ese rectángulo. */</a:t>
            </a:r>
            <a:endParaRPr sz="16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605425" y="1045375"/>
            <a:ext cx="6482400" cy="14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500"/>
              <a:buFont typeface="Roboto"/>
              <a:buChar char="●"/>
            </a:pPr>
            <a:r>
              <a:rPr lang="es" sz="2500" b="1" i="1" u="none" strike="noStrike" cap="none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createImageData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width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height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); </a:t>
            </a:r>
            <a:endParaRPr sz="2500" b="1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/*	Crea un nuevo objeto </a:t>
            </a:r>
            <a:r>
              <a:rPr lang="es" sz="1600" b="0" i="0" u="none" strike="noStrike" cap="none">
                <a:solidFill>
                  <a:srgbClr val="B7B7B7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ImageData</a:t>
            </a: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en blanco con las dimensiones especificadas. Todos los píxeles del nuevo objeto son negros transparentes. */</a:t>
            </a:r>
            <a:endParaRPr sz="16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9270" y="207525"/>
            <a:ext cx="1461149" cy="11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ImageData / Métodos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605425" y="2381500"/>
            <a:ext cx="6775500" cy="14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500"/>
              <a:buFont typeface="Roboto"/>
              <a:buChar char="●"/>
            </a:pPr>
            <a:r>
              <a:rPr lang="es" sz="2500" b="1" i="1" u="none" strike="noStrike" cap="none">
                <a:solidFill>
                  <a:srgbClr val="6FA8DC"/>
                </a:solidFill>
                <a:latin typeface="Roboto"/>
                <a:ea typeface="Roboto"/>
                <a:cs typeface="Roboto"/>
                <a:sym typeface="Roboto"/>
              </a:rPr>
              <a:t>getImageData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top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width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height</a:t>
            </a:r>
            <a:r>
              <a:rPr lang="es" sz="2500" b="1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); </a:t>
            </a:r>
            <a:endParaRPr sz="2500" b="1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/*	Retorna un objeto ImageData que representa los datos de píxeles para el área del lienzo. Las coordenadas se especifican en unidades espaciales de coordenadas del lienzo. */</a:t>
            </a:r>
            <a:endParaRPr sz="24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605425" y="1528950"/>
            <a:ext cx="6993900" cy="14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  <a:buFont typeface="Roboto"/>
              <a:buChar char="●"/>
            </a:pP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ImageData.data</a:t>
            </a:r>
            <a:endParaRPr sz="2500" b="1" i="1" u="none" strike="noStrike" cap="none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/* 	Es un arreglo </a:t>
            </a:r>
            <a:r>
              <a:rPr lang="es" sz="1600" b="0" i="1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(Uint8ClampedArray)</a:t>
            </a: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que representa una matriz unidimensional que contiene los datos RGBA, con valores enteros entre 0 y 255 (inclusive) */</a:t>
            </a:r>
            <a:endParaRPr sz="16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39525" y="1002500"/>
            <a:ext cx="590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" sz="2100" b="0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Solo lectura</a:t>
            </a:r>
            <a:endParaRPr sz="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1"/>
          <p:cNvCxnSpPr/>
          <p:nvPr/>
        </p:nvCxnSpPr>
        <p:spPr>
          <a:xfrm>
            <a:off x="828900" y="1508800"/>
            <a:ext cx="2532600" cy="0"/>
          </a:xfrm>
          <a:prstGeom prst="straightConnector1">
            <a:avLst/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11"/>
          <p:cNvSpPr txBox="1"/>
          <p:nvPr/>
        </p:nvSpPr>
        <p:spPr>
          <a:xfrm>
            <a:off x="605425" y="3841325"/>
            <a:ext cx="66699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  <a:buFont typeface="Roboto"/>
              <a:buChar char="●"/>
            </a:pP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ImageData.width</a:t>
            </a:r>
            <a:endParaRPr sz="2500" b="1" i="1" u="none" strike="noStrike" cap="none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/* 	Es una longitud indefinida de la representación de la altura real, en píxeles del objeto ImageData */</a:t>
            </a:r>
            <a:endParaRPr sz="16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605425" y="2833500"/>
            <a:ext cx="65556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  <a:buFont typeface="Roboto"/>
              <a:buChar char="●"/>
            </a:pPr>
            <a:r>
              <a:rPr lang="es" sz="2500" b="1" i="1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ImageData.height</a:t>
            </a:r>
            <a:endParaRPr sz="2500" b="1" i="1" u="none" strike="noStrike" cap="none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/* 	Es una longitud indefinida de la representación de la altura real, en píxeles del objeto ImageData */</a:t>
            </a:r>
            <a:endParaRPr sz="16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9270" y="207525"/>
            <a:ext cx="1461149" cy="11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ImageData / Propiedades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575" y="850200"/>
            <a:ext cx="7702751" cy="404990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Crear una imagen desde cero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1870675" y="3479400"/>
            <a:ext cx="3015000" cy="285900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5522650" y="4117575"/>
            <a:ext cx="2332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Convierte una imagen en un arreglo</a:t>
            </a:r>
            <a:endParaRPr sz="16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2"/>
          <p:cNvCxnSpPr>
            <a:stCxn id="196" idx="3"/>
            <a:endCxn id="197" idx="1"/>
          </p:cNvCxnSpPr>
          <p:nvPr/>
        </p:nvCxnSpPr>
        <p:spPr>
          <a:xfrm>
            <a:off x="4885675" y="3622350"/>
            <a:ext cx="636900" cy="833700"/>
          </a:xfrm>
          <a:prstGeom prst="curvedConnector3">
            <a:avLst>
              <a:gd name="adj1" fmla="val 50006"/>
            </a:avLst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99" name="Google Shape;19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Cargar una imagen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447650" y="1134375"/>
            <a:ext cx="83880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500"/>
              <a:buFont typeface="Roboto"/>
              <a:buChar char="●"/>
            </a:pPr>
            <a:r>
              <a:rPr lang="es" sz="25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 carga de imágenes es asincrónica.</a:t>
            </a:r>
            <a:r>
              <a:rPr lang="es" sz="2500" b="0" i="0" u="none" strike="noStrike" cap="none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2500" b="1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0" y="1810650"/>
            <a:ext cx="91440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500"/>
              <a:buFont typeface="Roboto"/>
              <a:buChar char="●"/>
            </a:pPr>
            <a:r>
              <a:rPr lang="es" sz="25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El script se ejecuta secuencialmente línea por línea.</a:t>
            </a:r>
            <a:endParaRPr sz="25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-6550" y="2486925"/>
            <a:ext cx="79050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500"/>
              <a:buFont typeface="Roboto"/>
              <a:buChar char="●"/>
            </a:pPr>
            <a:r>
              <a:rPr lang="es" sz="25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El tiempo de demora depende del tamaño de la imagen y de la latencia del servidor que la tiene.</a:t>
            </a:r>
            <a:endParaRPr sz="25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300" y="3544200"/>
            <a:ext cx="3644825" cy="15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4953050" y="3830925"/>
            <a:ext cx="2323200" cy="831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¡Puede que la imagen no esté cargada en memoria al momento de dibujarla!</a:t>
            </a:r>
            <a:endParaRPr sz="14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133000" y="3830850"/>
            <a:ext cx="820200" cy="831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4285950" y="3960525"/>
            <a:ext cx="572100" cy="572100"/>
          </a:xfrm>
          <a:prstGeom prst="noSmoking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Cargar una imagen al dibujarla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100" y="1267300"/>
            <a:ext cx="5567300" cy="37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/>
          <p:nvPr/>
        </p:nvSpPr>
        <p:spPr>
          <a:xfrm>
            <a:off x="5836975" y="1717275"/>
            <a:ext cx="233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Ubicación del recurso</a:t>
            </a:r>
            <a:endParaRPr sz="16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14"/>
          <p:cNvCxnSpPr>
            <a:endCxn id="221" idx="1"/>
          </p:cNvCxnSpPr>
          <p:nvPr/>
        </p:nvCxnSpPr>
        <p:spPr>
          <a:xfrm>
            <a:off x="4418575" y="1756125"/>
            <a:ext cx="1418400" cy="176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3" name="Google Shape;223;p14"/>
          <p:cNvSpPr txBox="1"/>
          <p:nvPr/>
        </p:nvSpPr>
        <p:spPr>
          <a:xfrm>
            <a:off x="5836975" y="2745975"/>
            <a:ext cx="2332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Evento de finalización de la carga del recurso</a:t>
            </a:r>
            <a:endParaRPr sz="16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4"/>
          <p:cNvCxnSpPr>
            <a:endCxn id="223" idx="1"/>
          </p:cNvCxnSpPr>
          <p:nvPr/>
        </p:nvCxnSpPr>
        <p:spPr>
          <a:xfrm>
            <a:off x="4418575" y="2907825"/>
            <a:ext cx="1418400" cy="176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5" name="Google Shape;225;p14"/>
          <p:cNvSpPr txBox="1"/>
          <p:nvPr/>
        </p:nvSpPr>
        <p:spPr>
          <a:xfrm>
            <a:off x="5836975" y="4069950"/>
            <a:ext cx="2544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Dibujo la imagen usando el contexto de HTML5</a:t>
            </a:r>
            <a:endParaRPr sz="16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14"/>
          <p:cNvCxnSpPr>
            <a:endCxn id="225" idx="1"/>
          </p:cNvCxnSpPr>
          <p:nvPr/>
        </p:nvCxnSpPr>
        <p:spPr>
          <a:xfrm>
            <a:off x="4942675" y="4289100"/>
            <a:ext cx="894300" cy="1194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27" name="Google Shape;2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Usamos .onload()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900" y="1231500"/>
            <a:ext cx="6648543" cy="39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2525" y="1508575"/>
            <a:ext cx="2722800" cy="3377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/>
        </p:nvSpPr>
        <p:spPr>
          <a:xfrm>
            <a:off x="454100" y="402400"/>
            <a:ext cx="80094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800" b="1" i="0" u="none" strike="noStrike" cap="none">
                <a:solidFill>
                  <a:srgbClr val="C27BA0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</a:t>
            </a:r>
            <a:r>
              <a:rPr lang="es" sz="3800" b="1" i="0" u="none" strike="noStrike" cap="none">
                <a:solidFill>
                  <a:schemeClr val="accent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" sz="3800" b="1" i="0" u="none" strike="noStrike" cap="none">
                <a:solidFill>
                  <a:srgbClr val="FFD96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</a:t>
            </a:r>
            <a:r>
              <a:rPr lang="es" sz="3800" b="1" i="0" u="none" strike="noStrike" cap="none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</a:t>
            </a:r>
            <a:r>
              <a:rPr lang="es" sz="3800" b="1" i="0" u="none" strike="noStrike" cap="none">
                <a:solidFill>
                  <a:srgbClr val="93C47D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“practicar”</a:t>
            </a:r>
            <a:r>
              <a:rPr lang="es" sz="3800" b="1" i="0" u="none" strike="noStrike" cap="none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;</a:t>
            </a:r>
            <a:endParaRPr sz="38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513450" y="1680025"/>
            <a:ext cx="7950000" cy="22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/* </a:t>
            </a:r>
            <a:endParaRPr sz="20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Roboto"/>
              <a:buChar char="●"/>
            </a:pPr>
            <a:r>
              <a:rPr lang="es" sz="19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Cargar una imagen almacenada en la PC  </a:t>
            </a:r>
            <a:endParaRPr sz="19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Roboto"/>
              <a:buChar char="●"/>
            </a:pPr>
            <a:r>
              <a:rPr lang="es" sz="19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Dibujar la imagen sobre el canvas usando ImageData</a:t>
            </a:r>
            <a:endParaRPr sz="19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Duración aproximada 40 minutos.</a:t>
            </a:r>
            <a:endParaRPr sz="15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*/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>
            <a:hlinkClick r:id="rId4"/>
          </p:cNvPr>
          <p:cNvSpPr txBox="1"/>
          <p:nvPr/>
        </p:nvSpPr>
        <p:spPr>
          <a:xfrm>
            <a:off x="3405600" y="4551675"/>
            <a:ext cx="2332800" cy="352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COMENZAR PRÁCTICA</a:t>
            </a:r>
            <a:endParaRPr sz="14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454100" y="910525"/>
            <a:ext cx="7428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student.</a:t>
            </a:r>
            <a:r>
              <a:rPr lang="es" sz="3800" b="1" i="0" u="none" strike="noStrike" cap="none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practice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slides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3800" b="1" i="0" u="none" strike="noStrike" cap="none">
                <a:solidFill>
                  <a:srgbClr val="93C47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theory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" sz="3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/>
          <p:nvPr/>
        </p:nvSpPr>
        <p:spPr>
          <a:xfrm>
            <a:off x="18200" y="3868875"/>
            <a:ext cx="9144000" cy="850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Acceder a los píxeles</a:t>
            </a:r>
            <a:endParaRPr sz="35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716625" y="1422000"/>
            <a:ext cx="7531200" cy="21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Roboto"/>
              <a:buChar char="●"/>
            </a:pPr>
            <a:r>
              <a:rPr lang="es" sz="20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ImageData almacena los pixeles en un arreglo de 1D</a:t>
            </a:r>
            <a:endParaRPr sz="20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Roboto"/>
              <a:buChar char="●"/>
            </a:pPr>
            <a:r>
              <a:rPr lang="es" sz="20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El Contexto provee métodos para acceder a los pixeles que ya se dibujaron en el contexto.</a:t>
            </a:r>
            <a:endParaRPr sz="20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Roboto"/>
              <a:buChar char="●"/>
            </a:pPr>
            <a:r>
              <a:rPr lang="es" sz="20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No puedo acceder a los pixeles de una Imagen directamente.  </a:t>
            </a:r>
            <a:endParaRPr sz="20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828800" y="392452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>
                <a:solidFill>
                  <a:srgbClr val="282C34"/>
                </a:solidFill>
                <a:latin typeface="Roboto"/>
                <a:ea typeface="Roboto"/>
                <a:cs typeface="Roboto"/>
                <a:sym typeface="Roboto"/>
              </a:rPr>
              <a:t>Entonces, para acceder a los pixeles de una imagen… ¡Primero tengo que dibujar la imagen!</a:t>
            </a:r>
            <a:endParaRPr sz="1800" b="1" i="0" u="none" strike="noStrike" cap="none">
              <a:solidFill>
                <a:srgbClr val="282C3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4" name="Google Shape;25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02600"/>
            <a:ext cx="7677124" cy="3968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E5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71130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Acceder a los píxeles</a:t>
            </a:r>
            <a:endParaRPr sz="1500" i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5180750" y="1193400"/>
            <a:ext cx="2419308" cy="155250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5343525" y="1362438"/>
            <a:ext cx="20946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282C34"/>
                </a:solidFill>
                <a:latin typeface="Roboto"/>
                <a:ea typeface="Roboto"/>
                <a:cs typeface="Roboto"/>
                <a:sym typeface="Roboto"/>
              </a:rPr>
              <a:t>Por políticas de seguridad, Chrome </a:t>
            </a:r>
            <a:endParaRPr sz="1300" b="1" i="0" u="none" strike="noStrike" cap="none">
              <a:solidFill>
                <a:srgbClr val="282C3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282C34"/>
                </a:solidFill>
                <a:latin typeface="Roboto"/>
                <a:ea typeface="Roboto"/>
                <a:cs typeface="Roboto"/>
                <a:sym typeface="Roboto"/>
              </a:rPr>
              <a:t>NO permite acceder directamente a los </a:t>
            </a:r>
            <a:endParaRPr sz="1300" b="1" i="0" u="none" strike="noStrike" cap="none">
              <a:solidFill>
                <a:srgbClr val="282C3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282C34"/>
                </a:solidFill>
                <a:latin typeface="Roboto"/>
                <a:ea typeface="Roboto"/>
                <a:cs typeface="Roboto"/>
                <a:sym typeface="Roboto"/>
              </a:rPr>
              <a:t>datos de la imagen.</a:t>
            </a:r>
            <a:endParaRPr sz="1400" b="0" i="0" u="none" strike="noStrike" cap="none">
              <a:solidFill>
                <a:srgbClr val="282C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1094525" y="2955525"/>
            <a:ext cx="6735000" cy="342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0" y="0"/>
            <a:ext cx="9144000" cy="850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 txBox="1">
            <a:spLocks noGrp="1"/>
          </p:cNvSpPr>
          <p:nvPr>
            <p:ph type="title"/>
          </p:nvPr>
        </p:nvSpPr>
        <p:spPr>
          <a:xfrm>
            <a:off x="716625" y="131325"/>
            <a:ext cx="66159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Acceder a los píxeles</a:t>
            </a:r>
            <a:endParaRPr sz="35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494400" y="981975"/>
            <a:ext cx="8446200" cy="16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Roboto"/>
              <a:buChar char="●"/>
            </a:pPr>
            <a:r>
              <a:rPr lang="es" sz="17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¿Cómo accedo a cada pixel?  </a:t>
            </a:r>
            <a:endParaRPr sz="17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Roboto"/>
              <a:buChar char="●"/>
            </a:pPr>
            <a:r>
              <a:rPr lang="es" sz="1700" b="0" i="0" u="none" strike="noStrike" cap="non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¿Cómo obtener las componentes R, G y B?</a:t>
            </a:r>
            <a:endParaRPr sz="1700" b="1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2188125"/>
            <a:ext cx="4323450" cy="295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1650" y="1267850"/>
            <a:ext cx="3390900" cy="384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5924" y="349500"/>
            <a:ext cx="833727" cy="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/>
        </p:nvSpPr>
        <p:spPr>
          <a:xfrm>
            <a:off x="454100" y="402400"/>
            <a:ext cx="80094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800" b="1" i="0" u="none" strike="noStrike" cap="none">
                <a:solidFill>
                  <a:srgbClr val="C27BA0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</a:t>
            </a:r>
            <a:r>
              <a:rPr lang="es" sz="3800" b="1" i="0" u="none" strike="noStrike" cap="none">
                <a:solidFill>
                  <a:schemeClr val="accent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" sz="3800" b="1" i="0" u="none" strike="noStrike" cap="none">
                <a:solidFill>
                  <a:srgbClr val="FFD96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 </a:t>
            </a:r>
            <a:r>
              <a:rPr lang="es" sz="3800" b="1" i="0" u="none" strike="noStrike" cap="none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</a:t>
            </a:r>
            <a:r>
              <a:rPr lang="es" sz="3800" b="1" i="0" u="none" strike="noStrike" cap="none">
                <a:solidFill>
                  <a:srgbClr val="93C47D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“ad honorem”</a:t>
            </a:r>
            <a:r>
              <a:rPr lang="es" sz="3800" b="1" i="0" u="none" strike="noStrike" cap="none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;</a:t>
            </a:r>
            <a:endParaRPr sz="38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54100" y="1680025"/>
            <a:ext cx="7488900" cy="2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/* </a:t>
            </a:r>
            <a:endParaRPr sz="20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Roboto"/>
              <a:buChar char="●"/>
            </a:pPr>
            <a:r>
              <a:rPr lang="es" sz="19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Aplicar un filtro o efecto a una imagen accediendo a sus píxeles y modificando la información contenida.</a:t>
            </a:r>
            <a:endParaRPr sz="19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Duración aproximada 40 minutos.</a:t>
            </a:r>
            <a:endParaRPr sz="15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*/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0">
            <a:hlinkClick r:id="rId4"/>
          </p:cNvPr>
          <p:cNvSpPr txBox="1"/>
          <p:nvPr/>
        </p:nvSpPr>
        <p:spPr>
          <a:xfrm>
            <a:off x="3405600" y="4551675"/>
            <a:ext cx="2332800" cy="352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COMENZAR DESAFÍO</a:t>
            </a:r>
            <a:endParaRPr sz="14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54100" y="910525"/>
            <a:ext cx="7428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student.</a:t>
            </a:r>
            <a:r>
              <a:rPr lang="es" sz="3800" b="1" i="0" u="none" strike="noStrike" cap="none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practice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slides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3800" b="1" i="0" u="none" strike="noStrike" cap="none">
                <a:solidFill>
                  <a:srgbClr val="93C47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3800" b="1" i="0" u="none" strike="noStrike" cap="non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theory</a:t>
            </a:r>
            <a:r>
              <a:rPr lang="es" sz="3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" sz="3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749</Words>
  <Application>Microsoft Office PowerPoint</Application>
  <PresentationFormat>Presentación en pantalla (16:9)</PresentationFormat>
  <Paragraphs>92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Roboto</vt:lpstr>
      <vt:lpstr>Roboto Light</vt:lpstr>
      <vt:lpstr>Arial</vt:lpstr>
      <vt:lpstr>Simple Light</vt:lpstr>
      <vt:lpstr>Simple Light</vt:lpstr>
      <vt:lpstr>Presentación de PowerPoint</vt:lpstr>
      <vt:lpstr>¿Qué es canvas?</vt:lpstr>
      <vt:lpstr>CanvasRenderingContext2D</vt:lpstr>
      <vt:lpstr>CanvasRenderingContext2D</vt:lpstr>
      <vt:lpstr> </vt:lpstr>
      <vt:lpstr>Presentación de PowerPoint</vt:lpstr>
      <vt:lpstr>Presentación de PowerPoint</vt:lpstr>
      <vt:lpstr>¿Qué es ImageData?</vt:lpstr>
      <vt:lpstr>Imagen Digital</vt:lpstr>
      <vt:lpstr>ImageData / Métodos</vt:lpstr>
      <vt:lpstr>ImageData / Propiedades</vt:lpstr>
      <vt:lpstr>Crear una imagen desde cero</vt:lpstr>
      <vt:lpstr>Cargar una imagen</vt:lpstr>
      <vt:lpstr>Cargar una imagen al dibujarla</vt:lpstr>
      <vt:lpstr>Usamos .onload()</vt:lpstr>
      <vt:lpstr>Presentación de PowerPoint</vt:lpstr>
      <vt:lpstr>Acceder a los píxeles</vt:lpstr>
      <vt:lpstr>Acceder a los píxeles</vt:lpstr>
      <vt:lpstr>Acceder a los píxeles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facu</cp:lastModifiedBy>
  <cp:revision>1</cp:revision>
  <dcterms:modified xsi:type="dcterms:W3CDTF">2026-03-17T19:39:20Z</dcterms:modified>
</cp:coreProperties>
</file>